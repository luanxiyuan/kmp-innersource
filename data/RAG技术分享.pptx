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各位同事好，今天分享的主题是 RAG——检索增强生成。大家可能已经用过 ChatGPT 或者其他大语言模型，有没有遇到过这样的情况：你问它公司内部的业务问题，它一本正经地“胡说八道”？或者你让它帮你查一段最新的技术文档，它告诉你一个不存在的 API？这就是大模型的“幻觉”问题。RAG 就是解决这个问题的核心方案之一。今天的目标很简单：让大家搞清楚 RAG 是什么、怎么工作、以及在我们的开发工作中什么时候该用、什么时候不该用。整个分享大概 30 到 40 分钟，中间有任何问题随时可以打断。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在讲 RAG 之前，我们先聊聊为什么需要它。大语言模型虽然强大，但有三个绕不开的硬伤。第一，知识截止——模型的训练数据是有时间断点的，问它最近发生的事或者最新的技术版本，它就无能为力了。第二，领域知识盲区——大模型训练用的是公开数据，你们公司的内部文档、业务系统、私有知识库，它通通不知道。第三，也是最危险的，幻觉问题——它不知道的问题不会说“我不知道”，而是会一本正经地编一个答案，而且编得特别有说服力，代码看起来能跑，API 看起来存在，但其实全是假的。这三个问题在 ToB 场景中是致命的。RAG 的核心思路其实特别朴素：既然大模型不知道，那我们就先把相关的资料找出来，连同问题一起喂给它，让它“看着资料”回答。这就像开卷考试——不带书（纯大模型）容易答错，带书（RAG）就能答对。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什么是 RAG？全称是 Retrieval-Augmented Generation，中文叫“检索增强生成”。名字听着高大上，但核心思路非常朴素。我用一个大家都能理解的类比：纯大模型回答问题，就像闭卷考试——你只能靠脑子里的记忆，记错了就答错了。RAG 呢，就像开卷考试——答题之前先翻书找到相关章节，看着书上的内容来组织答案。只不过这里的“书”是企业的知识库、文档库、数据库，“翻书”的动作是由检索系统自动完成的。所以 RAG 三个字母拆开看：R 是 Retrieval，先检索；A 是 Augmented，用检索结果增强上下文；G 是 Generation，大模型基于增强后的上下文生成最终回答。这个类比很重要，后面的所有技术细节，本质上都是在优化“怎么翻书更准更快”。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在实际工作中，让大模型更好用主要有三条路：提示工程、RAG、微调。这不是三选一的排斥关系，而是可以组合使用的。但对于知识增强这个需求，我们主要比较 RAG 和微调。微调是用你的领域数据重新训练模型，相当于送模型去上培训班——学得好但成本高，而且知识更新了又得重新训。RAG 是外挂一个知识库，知识更新了只需要往库里加新文档就行，灵活得多。记住一个经验法则：如果你的需求是“让模型知道更多知识”，优先考虑 RAG；如果是“让模型回答风格更符合要求”或“让模型学会某种特定任务”，才考虑微调。当然，在 RAG 的基础上再叠加微调，效果会更好——这叫 RAFT，是进阶话题，今天不展开。提示工程则是所有方案的基础，无论用不用 RAG，prompt 写得好不好直接决定最终效果。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这页是整个分享的核心——RAG 的架构总览。大家先不用纠结技术细节，抓住两条链路就行。第一条是离线链路，也叫数据接入链路：你有一堆文档——PDF、Word、网页、代码——首先要解析提取文本，然后把长文本切成小块，接着用 Embedding 模型把每个文本块转成向量，最后存进向量数据库。这一步的目的是把你的知识“结构化地存进去”。第二条是在线链路，也叫检索问答链路：用户问了一个问题，首先把问题也转成向量，然后在向量数据库里做相似度检索，找出最相关的几个文本块，可能还会做一轮重排序来提高精度，接着把检索到的内容和用户问题组装成一个 prompt，发给大模型，大模型基于这些上下文生成最终回答。后面所有的技术细节——分块策略、Embedding 选型、检索算法、重排序——都是围绕这两条链路的每个环节做优化。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上一页是架构图，这页我们把流程拆细，一步步来看。第一步文档加载，就是把各种格式的文件读进来。这里有个坑：PDF 的表格和图片提取特别麻烦，有时候需要用 OCR。第二步文本分块，这个非常关键——块太大，检索不精准；块太小，上下文不完整。后面会专门讲。第三步向量化，就是用 Embedding 模型把文本转成一串数字——向量。你可以理解为把文本的“语义”编码成坐标，语义相近的文本在向量空间里距离也近。第四步存进向量数据库，主流的有 Milvus、Chroma、Pinecone，各有各的适用场景。第五步检索，用户提问后用同样的 Embedding 模型把问题转成向量，然后计算相似度找最相关的文本块。检索完通常会加一轮重排序，因为向量检索虽然快但精度有限，用专门的 Reranker 模型再排一遍能显著提升准确率。第六步生成，把检索到的内容拼到 prompt 里发给大模型。注意这里要管理好 Context Window——如果检索回来的内容太多，超过了模型的上下文窗口，就得截断或者压缩。这六步是 RAG 的骨架，后面我们看几个关键环节的细节。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文本分块是 RAG 中最容易被忽视但影响最大的环节。为什么重要？因为检索的基本单位是“块”——如果块切得不好，把一个完整的意思切成了两半，那检索的时候不管怎么搜都搜不到完整的上下文。三种主流策略：固定长度最简单，直接按字数切，但可能把一句话从中间断开；递归分块是 LangChain 的默认策略，先按段落切，段落太大就按行切，再大就按空格切，保证尽量在自然边界处断开；语义分块最高级，用 Embedding 模型判断语义转折点，但成本高。实战中的经验值：一般文档用 500 tokens 左右的块大小，加 50 tokens 的重叠。如果是代码，一定要按函数和类的边界来切，不能从函数中间断开。Markdown 可以利用标题层级来分块，每个标题下的内容作为一个块。分块策略没有银弹，需要根据你的文档类型来调整。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 RAG 的两个核心基础设施：Embedding 和向量数据库。先说 Embedding——它的作用是把文本变成向量。你可以这样理解：每个文本块在向量空间里都有一个坐标，语义相近的文本坐标也近。比如“如何重置密码”和“密码忘记了怎么办”虽然用词不同，但语义相近，它们的向量距离就很近。这就是为什么用户问“密码忘了”能搜到文档里写“密码重置流程”的原因——基于语义而非关键词匹配。Embedding 模型选型方面，如果是中文场景，BGE 和 M3E 都是国内社区的主流选择，而且可以本地部署，不依赖外部 API。OpenAI 的 Embedding 效果也不错，但数据要传到国外。再说向量数据库，它的核心能力是“给一个向量，快速找出库里最相似的 K 个向量”。小项目用 Chroma 就行，一行代码就能跑；生产环境推荐 Milvus，支持分布式和高可用；不想运维就用 Pinecone 云服务。关键概念记住两个：余弦相似度是衡量相似性的标准，ANN 是快速检索的核心技术——暴力遍历 100 万条向量要好几秒，用 ANN 索引只要几毫秒。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检索是 RAG 中决定效果上限的环节。检索策略经历了三代演进。第一代纯向量检索，好处是能理解语义——你问“怎么改密码”能搜到“密码重置指南”，但缺点是精确匹配关键词的能力弱——你搜一个专有名词“K8sNodeReady”可能搜不到。第二代混合检索，把向量检索和 BM25 关键词检索结合起来，BM25 就是传统搜索引擎用的算法，对精确关键词匹配很强，两者取长补短。第三代在混合检索基础上加了重排序——先粗筛召回 20 条候选，再用 Reranker 精排选最好的 5 条。为什么要这样？因为向量检索用的是双塔模型，为了速度做了简化，精度有损失；Reranker 用的是交叉编码器，把问题和每个候选文档放在一起精细打分，精度高但慢。所以策略是“先粗后精”——快检索多召回，慢重排精选。最后提几个进阶手段：Query 改写很重要，因为用户的提问往往很口语化，直接拿去检索效果不好，先用 LLM 改写成更规范的检索词；父子分块是个很实用的技巧，检索的时候用小块来提高精准度，但生成回答的时候把小块所属的大块取出来，保证上下文完整。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了解了 RAG 的原理和技术，那在实际工作中什么时候该用？我总结了六个典型场景。第一，企业知识库问答——这是 RAG 最经典的应用，让员工直接问“年假怎么请”“报销流程是什么”，比翻文档快多了。第二，智能客服——基于产品手册和 FAQ 自动回复，注意 RAG 解决的是“有标准答案的问题”，不是闲聊。第三，文档分析——法律合同里找风险条款、研报里提取关键数据，RAG 的可溯源能力在这里特别重要，每个结论都能指向原文。第四，代码和 API 文档助手——这个跟我们开发直接相关，后面实战环节细讲。第五，需要最新信息的场景——大模型的知识有截止日期，但 RAG 可以接实时数据源。第六，任何需要可溯源回答的高风险场景——医疗、法律、金融，不能让大模型随便编，每句话都得有出处。总结一下共同特征：知识量大且会更新、需要准确而非创造、需要可溯源、涉及私有领域数据——满足这几条，RAG 基本就是首选方案。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不是万能药，有些场景用它反而不如不用。第一种，纯创造性任务——写诗写故事，你需要的是模型的创造力，RAG 引入参考资料反而会让输出“套路化”。第二种，通用知识问答——“什么是二分查找”“RESTful 是什么”，这些大模型训练时早就学过了，直接问就行，检索反而多此一举，还增加了延迟。第三种，规则明确的简单任务——数据格式转换、简单计算，写段代码比搭 RAG 系统靠谱一百倍，而且更可控。不要“拿着锤子看什么都是钉子”。第四种，实时性要求极高的场景——RAG 的完整链路通常要 1 到 5 秒，如果你需要毫秒级响应，RAG 不合适。第五种，数据量太小——如果你只有五页文档，建一套 RAG 系统的投入产出比太低了，不如直接把文档贴到 prompt 里。这里给大家一个简单的决策清单：先问“大模型本身能答好吗”，能答好就不用 RAG；再问“需要基于特定文档吗”，不需要就不用 RAG；最后问“有足够文档建库吗”，没有就先积累。三个问题都指向“否”，再考虑 RAG。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第一个实战场景是大家最容易遇到的——企业知识库问答。架构大家看图就行，核心就是我们前面讲的 RAG 流程。这里我重点讲三个落地时一定会遇到的坑。第一个坑是文档质量——很多公司的文档格式混乱、内容过时、甚至互相矛盾。RAG 是“垃圾进垃圾出”——如果你的知识库里全是过期文档，那 RAG 系统只会更高效地给出错误答案。所以上线前一定要做文档治理。第二个坑是权限控制——比如薪资制度只有 HR 能看，代码文档只有研发能看。这个怎么解决？在文档入库的时候打上 metadata 标签，比如部门、密级，检索的时候加上过滤条件，只搜当前用户有权限的文档。第三个坑是效果评估——RAG 系统上线后，老板问你“答得准不准”，你不能说“感觉还行”。你需要一套量化评估体系，这就是后面要讲的 RAGAS 指标。技术选型方面，原型阶段用 LangChain + Chroma + OpenAI 就能快速跑起来，生产环境再换 Milvus + 本地部署模型。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第二个实战场景跟我们开发更贴近——智能代码助手。大家可能用过 Copilot 或者通义灵码，它们是基于公开代码训练的，擅长写通用代码。但它们不了解你们公司的内部框架、私有 API、项目架构。比如你问“我们的支付回调怎么处理的”，Copilot 根本不知道。这就是代码 RAG 的价值——把团队自己的代码仓库、API 文档、技术 wiki 建成知识库，让 AI 能回答项目相关的问题。代码 RAG 跟普通文档 RAG 最大的区别在分块策略——代码必须按函数和类的边界来切，不能从函数中间断开。更专业的做法是用 AST 解析器来精确定位代码结构边界。另外可以做多粒度索引——函数级用于精确查找某个 API 用法，文件级用于理解文件职责，模块级用于理解架构关系。右边这个示例大家可以看到，用户问“支付回调怎么处理”，RAG 先检索到 PaymentCallbackController 和相关 Service 的代码，然后 LLM 基于这些代码生成回答，不仅解释了流程，还能直接指向具体代码位置。这就是 RAG 在开发场景的实际价值。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这里先抛一个问题给大家想想：用了 RAG 之后，大模型还会不会“胡说八道”？大家可以讨论一下。……好，其实这是 RAG 实际工作中最常遇到的挑战之一。很多人以为用了 RAG 就不会有幻觉了，这是误解。RAG 减少了幻觉，但不能完全消除。我们先分析根因：幻觉有两个来源——检索阶段和生成阶段。检索阶段的幻觉是：该检索到的内容没检索到，但系统还是让大模型回答了，大模型就只能编。生成阶段的幻觉是：检索结果明明有正确信息，但大模型“无视”了，还是用自己的知识编了一个答案。解决方案要分层面。检索层面，提升召回率确保相关内容被找到，同时设一个相似度阈值——如果检索结果跟问题的相似度都很低，说明知识库里可能就没有相关内容，这时候应该直接返回“未找到”，而不是强行回答。Prompt 层面非常关键，要明确告诉模型“只能用参考资料回答，资料里没有就说不知道”。另外要求模型标注引用来源，这样既增加了可信度，也方便人工核查。生成层面可以做后处理校验——用另一个模型检查答案是否真的来自检索内容。系统层面要有兜底策略，检索结果为空时转人工。右边这个 prompt 模板大家可以直接用，核心就是三条规则：只用参考资料、没有就说不知道、标注来源。按照这个框架，从检索到生成到兜底全链路覆盖，就是一个完整的解决思路。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同样先问大家一个问题：如果你做的 RAG 系统检索效果不好，经常搜到不相关的内容，你会从哪里入手优化？大家可以聊聊自己的想法。……好，这个问题考察的是 RAG 系统的系统性优化能力。不是简单说“换个更好的模型”就行，而是要有一套结构化的排查和优化方法论。我把优化策略分成三层：数据层、检索层、查询层。数据层是基础——分块策略调不调、数据有没有清洗、有没有打 metadata 标签。检索层是核心——有没有用混合检索、有没有加 Reranker、Top-K 设的合不合理。查询层是最容易被忽视的——用户的提问往往很口语化、很模糊，直接拿去检索效果差。比如用户问“登录不了怎么办”，这个 query 里的“登录不了”跟文档里写的“账号认证失败排查”在向量空间里未必很近。用 Query 改写把口语化提问变成更规范的检索词，效果会好很多。HyDE 是个很有意思的技巧——先让 LLM 假设一个答案，再用这个假设答案的向量去检索，因为“答案跟答案的语义相似度”通常比“问题跟答案的相似度”更高。最后这个诊断方法论很重要：发现问题后先看检索结果相不相关——不相关就是检索或查询层的问题；相关但回答错了，那就是生成层的问题，可能是 prompt 没约束好，或者 context 太长导致模型“中间遗忘”——这是个已知现象，LLM 对 context 中间位置的信息注意力会下降。按这个框架来排查和优化，体现的是系统化思维。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系统做完了，怎么评估效果好不好？不能凭感觉。业界最流行的是 RAGAS 框架，四个核心指标。Faithfulness 看有没有幻觉——回答是否忠于检索内容，不能编。Answer Relevancy 看有没有答非所问——用户问 A 你答 B。Context Precision 和 Recall 看检索环节——前者是“搜到的东西有多少有用”，后者是“该搜到的是不是都搜到了”。有了这套指标，你就能定位问题出在哪——Faithfulness 低说明生成层有问题，Context Precision 低说明检索层要优化。评估流程很简单：先人工标几十到上百个测试用例，每个用例包括问题、标准答案、相关文档，然后跑系统、算指标、定向优化、迭代。实际工作中还可以配合 LLM-as-Judge——用 GPT-4 给回答打分，成本低效率高。上线后收集用户反馈，点赞点踩，持续积累 bad case 来优化。这一页的核心信息是：RAG 效果评估要有量化指标，不能靠“感觉还行”。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快速回顾一下今天的内容。我们从“为什么需要 RAG”出发——大模型有知识截止、领域盲区、幻觉三大硬伤。RAG 的本质是“开卷考试”——先从知识库里检索相关资料，再让大模型基于资料生成回答。工作流程分离线入库和在线问答两条链路，涉及分块、向量化、检索、重排序等关键技术。适用场景方面，知识量大且会更新、需要准确和可溯源、涉及私有数据的场景适合用 RAG；纯创造性、通用知识、简单规则、超低延迟、数据太少的场景不适合。实战中我们看了企业知识库和代码助手两个场景。思考问题环节，我们讨论了幻觉问题和检索优化，核心是全链路防护和三层优化。效果评估要用 RAGAS 量化指标。最后三句话总结：RAG 的本质是开卷考试，核心价值是让回答可溯源可更新，效果上限由检索决定下限由 Prompt 兜底。如果大家想深入学，LangChain 和 LlamaIndex 的官方文档是最好的起点，两篇论文也推荐读一下。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以上就是今天的全部内容。最后留些时间给大家提问。我预设了几个可能被问到的问题：1. RAG 和 Agent 有什么关系？——RAG 是 Agent 的一个“工具”，Agent 可以在推理过程中自主决定是否调用 RAG 检索。2. 快速试一个 RAG demo 最快多久？——用 LangChain + Chroma + OpenAI API，半天就能跑通一个原型。3. RAG 的成本主要在哪？——三块：Embedding 调用费用、LLM 生成费用、向量数据库存储和计算费用，大头通常是 LLM 生成。4. 向量数据库和 ES 有什么区别？——ES 主要是关键词匹配（BM25），向量数据库是语义检索，现在 ES 也支持向量检索了，两者界限在模糊。如果暂时没有问题，会后也欢迎随时找我交流。谢谢大家！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200400"/>
            <a:ext cx="3657600" cy="36576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369A1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194560" y="1097280"/>
            <a:ext cx="640080" cy="64008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RAG：让大模型真正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“懂”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你的业务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86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657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检索增强生成技术分享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技术知识分享  ·  30-40 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RAG？——大模型的“三大硬伤”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33832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73152" cy="32918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73736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9202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知识截止问题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大模型训练数据有截止日期，无法获取最新信息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3840480"/>
            <a:ext cx="27432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 训练数据截止到 2023.4，问 2024 年发布的框架版本就答不上来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1371600"/>
            <a:ext cx="33832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371600"/>
            <a:ext cx="73152" cy="3291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Shape 12"/>
          <p:cNvSpPr/>
          <p:nvPr/>
        </p:nvSpPr>
        <p:spPr>
          <a:xfrm>
            <a:off x="4709160" y="173736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0916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领域知识盲区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70916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不了解企业内部文档、私有数据、业务系统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09160" y="3840480"/>
            <a:ext cx="27432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6"/>
          <p:cNvSpPr/>
          <p:nvPr/>
        </p:nvSpPr>
        <p:spPr>
          <a:xfrm>
            <a:off x="470916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问“我们公司的报销审批流程是什么”——大模型完全不知道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092440" y="1371600"/>
            <a:ext cx="33832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92440" y="1371600"/>
            <a:ext cx="73152" cy="3291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Shape 19"/>
          <p:cNvSpPr/>
          <p:nvPr/>
        </p:nvSpPr>
        <p:spPr>
          <a:xfrm>
            <a:off x="8412480" y="173736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92024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124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幻觉问题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41248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对不知道的问题“编造”看似合理的答案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412480" y="3840480"/>
            <a:ext cx="27432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3"/>
          <p:cNvSpPr/>
          <p:nvPr/>
        </p:nvSpPr>
        <p:spPr>
          <a:xfrm>
            <a:off x="8412480" y="3931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问一个不存在的 API 用法，它会自信地给你编一段代码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solidFill>
            <a:srgbClr val="155E75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D7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的核心价值：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让大模型基于“你提供的真实资料”回答问题，而不是靠“记忆”猜测。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RAG？——一个生活类比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1005840"/>
          </a:xfrm>
          <a:prstGeom prst="rect">
            <a:avLst/>
          </a:prstGeom>
          <a:solidFill>
            <a:srgbClr val="CFFAF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1005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RAG（Retrieval-Augmented Generation，检索增强生成）</a:t>
            </a:r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在大模型生成回答之前，先从外部知识库中检索相关信息，将检索到的内容作为上下文提供给大模型，从而生成更准确、更可靠的回答。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3383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743200"/>
            <a:ext cx="822960" cy="82296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7452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· 先从知识库中检索相关资料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468880"/>
            <a:ext cx="3383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74320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57784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Augmented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 · 用检索结果增强上下文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2468880"/>
            <a:ext cx="3383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2743200"/>
            <a:ext cx="822960" cy="82296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8116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· 大模型基于上下文生成回答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60520"/>
                <a:gridCol w="4160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纯大模型（闭卷考试）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RAG（开卷考试）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只能靠记忆，可能记错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先翻书找相关内容，再作答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新员工凭记忆回答客户问题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老员工翻阅知识库文档后回答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从脑中回忆 API 用法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先查阅官方文档，再写代码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= 给大模型配了一个“可搜索的图书馆”，回答前先查资料。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vs 微调 vs 提示工程——该选哪个？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217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21031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提示工程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优化输入提示词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外挂知识库检索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用领域数据重新训练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手动改 prompt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更新知识库即可（实时）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需重新训练（成本高）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更会提问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开卷考试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上培训班系统学习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可控性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高（可溯源）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494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决策流程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223760" y="1828800"/>
            <a:ext cx="25603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22376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需要外部知识？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2354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49440" y="2651760"/>
            <a:ext cx="22860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知识频繁更新？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3246120"/>
            <a:ext cx="118872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3246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✅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38160" y="3246120"/>
            <a:ext cx="128016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RAG/微调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418320" y="2651760"/>
            <a:ext cx="23774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94183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需要特定输出风格？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326880" y="3246120"/>
            <a:ext cx="109728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15600" y="3246120"/>
            <a:ext cx="137160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19"/>
          <p:cNvSpPr/>
          <p:nvPr/>
        </p:nvSpPr>
        <p:spPr>
          <a:xfrm>
            <a:off x="10515600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提示工程 ✅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114800"/>
            <a:ext cx="11064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" y="4114800"/>
            <a:ext cx="73152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4206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经验法则：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让模型“知道更多知识”→ 优先 RAG；让模型“回答风格更符合要求”或“学会特定任务”→ 考虑微调。提示工程是所有方案的基础。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架构总览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22960" cy="457200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知识入库（把知识“存进去”）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1828800" cy="73152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原始文档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20116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17520" y="2011680"/>
            <a:ext cx="1828800" cy="731520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66360" y="2011680"/>
            <a:ext cx="1828800" cy="73152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20116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0" y="2011680"/>
            <a:ext cx="1828800" cy="73152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0116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64040" y="2011680"/>
            <a:ext cx="1828800" cy="731520"/>
          </a:xfrm>
          <a:prstGeom prst="rect">
            <a:avLst/>
          </a:prstGeom>
          <a:solidFill>
            <a:srgbClr val="155E7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6404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8229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检索问答（把知识“找出来”并生成回答）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4023360"/>
            <a:ext cx="1828800" cy="73152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40233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017520" y="4023360"/>
            <a:ext cx="1828800" cy="73152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1752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0233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66360" y="4023360"/>
            <a:ext cx="1828800" cy="73152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6636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40233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315200" y="4023360"/>
            <a:ext cx="1828800" cy="731520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0" y="4023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 结果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315200" y="4983480"/>
            <a:ext cx="1828800" cy="731520"/>
          </a:xfrm>
          <a:prstGeom prst="rect">
            <a:avLst/>
          </a:prstGeom>
          <a:solidFill>
            <a:srgbClr val="155E7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重排序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4983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166360" y="4983480"/>
            <a:ext cx="1828800" cy="73152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6636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 Prompt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46320" y="4983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017520" y="4983480"/>
            <a:ext cx="1828800" cy="73152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01752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697480" y="4983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68680" y="4983480"/>
            <a:ext cx="1828800" cy="7315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68680" y="4983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5669280"/>
            <a:ext cx="5029200" cy="640080"/>
          </a:xfrm>
          <a:prstGeom prst="rect">
            <a:avLst/>
          </a:prstGeom>
          <a:solidFill>
            <a:srgbClr val="CFFAFE"/>
          </a:solidFill>
          <a:ln/>
        </p:spPr>
      </p:sp>
      <p:sp>
        <p:nvSpPr>
          <p:cNvPr id="49" name="Shape 47"/>
          <p:cNvSpPr/>
          <p:nvPr/>
        </p:nvSpPr>
        <p:spPr>
          <a:xfrm>
            <a:off x="548640" y="5669280"/>
            <a:ext cx="73152" cy="640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5669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数据接入链路（离线）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：把知识“存进去”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852160" y="5669280"/>
            <a:ext cx="5029200" cy="64008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52" name="Shape 50"/>
          <p:cNvSpPr/>
          <p:nvPr/>
        </p:nvSpPr>
        <p:spPr>
          <a:xfrm>
            <a:off x="5852160" y="5669280"/>
            <a:ext cx="73152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3" name="Text 51"/>
          <p:cNvSpPr/>
          <p:nvPr/>
        </p:nvSpPr>
        <p:spPr>
          <a:xfrm>
            <a:off x="6035040" y="5669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检索问答链路（在线）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：把知识“找出来”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完整流程详解——六步走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691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169164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1120140" y="160020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文档加载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PDF/Word/HTML/MD 等源文件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21992" y="20116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23160" y="1371600"/>
            <a:ext cx="1691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371600"/>
            <a:ext cx="1691640" cy="7315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Shape 12"/>
          <p:cNvSpPr/>
          <p:nvPr/>
        </p:nvSpPr>
        <p:spPr>
          <a:xfrm>
            <a:off x="2994660" y="1600200"/>
            <a:ext cx="548640" cy="54864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5" name="Text 13"/>
          <p:cNvSpPr/>
          <p:nvPr/>
        </p:nvSpPr>
        <p:spPr>
          <a:xfrm>
            <a:off x="29946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51460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将长文档切分为语义完整的块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96512" y="20116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97680" y="1371600"/>
            <a:ext cx="1691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1371600"/>
            <a:ext cx="1691640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69180" y="160020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691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38912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将文本块转为高维向量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71032" y="20116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1371600"/>
            <a:ext cx="1691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371600"/>
            <a:ext cx="16916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Shape 26"/>
          <p:cNvSpPr/>
          <p:nvPr/>
        </p:nvSpPr>
        <p:spPr>
          <a:xfrm>
            <a:off x="6743700" y="160020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7437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626364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向量存储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将向量 + 原文存入向量数据库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45552" y="20116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046720" y="1371600"/>
            <a:ext cx="1691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46720" y="1371600"/>
            <a:ext cx="1691640" cy="73152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35" name="Shape 33"/>
          <p:cNvSpPr/>
          <p:nvPr/>
        </p:nvSpPr>
        <p:spPr>
          <a:xfrm>
            <a:off x="8618220" y="1600200"/>
            <a:ext cx="548640" cy="548640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36" name="Text 34"/>
          <p:cNvSpPr/>
          <p:nvPr/>
        </p:nvSpPr>
        <p:spPr>
          <a:xfrm>
            <a:off x="86182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813816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检索+重排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38160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 query 检索最相关文本块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20072" y="20116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921240" y="1371600"/>
            <a:ext cx="1691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21240" y="1371600"/>
            <a:ext cx="169164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92740" y="160020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104927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10012680" y="2240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012680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 prompt 调用 LLM 生成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3383280"/>
            <a:ext cx="11064240" cy="3017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352044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RAG 核心流程伪代码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 = load_documents("company_docs/")          # ① 加载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 = split_text(documents, chunk_size=500)       # ② 分块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 = embedding_model.encode(chunks)             # ③ 向量化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vector_db.add(vectors, chunks)                       # ④ 存储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用户提问时 ---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query_vector = embedding_model.encode(user_question) # ③ query向量化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vector_db.search(query_vector, top_k=5)    # ⑤ 检索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reranked = reranker(user_question, results)          # ⑤ 重排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build_prompt(user_question, reranked)       # ⑥ 组装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llm.generate(prompt)                        # ⑥ 生成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关键技术①：文本分块策略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94360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73152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为什么分块很重要？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分块质量 → 检索质量 → 最终回答质量。Garbage in, garbage out。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201168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369A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固定长度分块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按字符数切分（如每500字）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简单直接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可能切断语义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快速原型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递归分块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\n\n → \n → 空格逐级切分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保持段落完整性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块大小不均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通用文档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语义分块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Embedding 检测语义边界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语义完整度最高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计算成本高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高质量需求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977640"/>
            <a:ext cx="54864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3977640"/>
            <a:ext cx="73152" cy="2377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实战建议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chunk_size 通常设 300-800 tokens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4910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overlap（重叠）：相邻块重叠 10-20%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52943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代码文档按 函数/类 边界切分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56784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按标题层级分块效果较好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09360" y="3977640"/>
            <a:ext cx="530352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41148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好的分块：按函数边界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chunk_code(source_code):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"""按函数/类定义切分代码"""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chunks = split_by_function_or_class(source_code)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chunks  # 每个函数是一个完整 chunk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坏的分块：固定长度直接切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可能导致函数前半段在一个chunk,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后半段在另一个chunk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关键技术②：Embedding 与向量数据库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035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73152" cy="3474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模型选型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16459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3-small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1536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效果好，需API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3-large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效果更好，成本高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高质量需求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49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BGE-large-zh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中文好，可本地部署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中文/私有化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M3E-base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中文社区流行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Jina v3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多语言支持好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多语言场景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280160"/>
            <a:ext cx="53035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280160"/>
            <a:ext cx="73152" cy="3474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向量数据库对比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874520"/>
          <a:ext cx="4937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7373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Milvus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高性能，可水平扩展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生产大规模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Chroma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简单易用，Python原生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原型/小规模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Pinecone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云服务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全托管，免运维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快速上线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FAISS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Meta开源，纯计算库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本地高效检索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Weaviate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支持向量+关键词混合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需要混合检索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5029200"/>
            <a:ext cx="3505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5029200"/>
            <a:ext cx="73152" cy="1188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516636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余弦相似度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77240" y="5532120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衡量两个向量方向一致性，值越接近1越相似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28160" y="5029200"/>
            <a:ext cx="3505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28160" y="5029200"/>
            <a:ext cx="73152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5"/>
          <p:cNvSpPr/>
          <p:nvPr/>
        </p:nvSpPr>
        <p:spPr>
          <a:xfrm>
            <a:off x="4556760" y="516636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 近似最近邻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56760" y="5532120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在海量向量中快速找 Top-K，牺牲少量精度换巨大速度提升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07680" y="5029200"/>
            <a:ext cx="35052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07680" y="5029200"/>
            <a:ext cx="73152" cy="11887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3" name="Text 19"/>
          <p:cNvSpPr/>
          <p:nvPr/>
        </p:nvSpPr>
        <p:spPr>
          <a:xfrm>
            <a:off x="8336280" y="516636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HNSW 算法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336280" y="5532120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目前最流行的 ANN 索引算法，兼顾速度和精度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关键技术③：检索策略与重排序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检索策略演进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3832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91640"/>
            <a:ext cx="338328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纯向量检索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理解语义，但精确关键词匹配弱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6916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3832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691640"/>
            <a:ext cx="3383280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+ BM25 混合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向量抓语义，BM25 抓关键词，取长补短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16916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01000" y="1691640"/>
            <a:ext cx="33832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01000" y="1691640"/>
            <a:ext cx="33832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 + 重排序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8388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先粗筛召回 Top-20，再用 Reranker 精排 Top-5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5029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383280"/>
            <a:ext cx="73152" cy="13716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混合检索公式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3840480"/>
            <a:ext cx="4572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977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= α × vector_score + (1-α) × bm25_score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α 通常取 0.5-0.7，可根据效果调优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3383280"/>
            <a:ext cx="5760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52160" y="3383280"/>
            <a:ext cx="73152" cy="1371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为什么需要重排序？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37947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向量检索（双塔模型）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：速度快但精度有限
</a:t>
            </a:r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Reranker（交叉编码器）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：精度高但速度慢
</a:t>
            </a:r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策略：先粗筛召回（快），再精排（准）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检索质量优化的进阶手段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5577840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577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改写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5943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LLM 把口语化提问改写为更规范的检索词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83280" y="54406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66160" y="55778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5577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7764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多路召回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566160" y="5943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+ 关键词 + 知识图谱同时检索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54406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0" y="5577840"/>
            <a:ext cx="320040" cy="32004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5577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1228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0" y="5943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 LLM 假设答案，用假设答案的向量去检索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52560" y="5440680"/>
            <a:ext cx="25603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235440" y="5577840"/>
            <a:ext cx="320040" cy="3200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9235440" y="5577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646920" y="5532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父子分块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235440" y="5943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检索用小块（精准），生成用大块（完整）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什么时候适合使用 RAG？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3383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80160"/>
            <a:ext cx="73152" cy="20116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554480"/>
            <a:ext cx="594360" cy="59436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1703070"/>
            <a:ext cx="297180" cy="2971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554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企业知识库问答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员工查询公司制度、流程文档、技术文档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60120" y="2788920"/>
            <a:ext cx="2834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 onboarding，减少重复提问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1280160"/>
            <a:ext cx="3383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280160"/>
            <a:ext cx="73152" cy="20116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0" y="1554480"/>
            <a:ext cx="594360" cy="594360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170307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554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客服/售后问答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6344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基于产品手册、FAQ、历史工单回答问题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63440" y="2788920"/>
            <a:ext cx="2834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6"/>
          <p:cNvSpPr/>
          <p:nvPr/>
        </p:nvSpPr>
        <p:spPr>
          <a:xfrm>
            <a:off x="466344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 自动回复，降低人工成本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092440" y="1280160"/>
            <a:ext cx="3383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92440" y="1280160"/>
            <a:ext cx="73152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19"/>
          <p:cNvSpPr/>
          <p:nvPr/>
        </p:nvSpPr>
        <p:spPr>
          <a:xfrm>
            <a:off x="8366760" y="155448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703070"/>
            <a:ext cx="297180" cy="2971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98280" y="1554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文档分析与问答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36676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法律合同审查、研报分析、论文辅助阅读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366760" y="2788920"/>
            <a:ext cx="2834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3"/>
          <p:cNvSpPr/>
          <p:nvPr/>
        </p:nvSpPr>
        <p:spPr>
          <a:xfrm>
            <a:off x="836676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快速定位关键信息，支持溯源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85800" y="3566160"/>
            <a:ext cx="3383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85800" y="3566160"/>
            <a:ext cx="73152" cy="2011680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31" name="Shape 26"/>
          <p:cNvSpPr/>
          <p:nvPr/>
        </p:nvSpPr>
        <p:spPr>
          <a:xfrm>
            <a:off x="960120" y="3840480"/>
            <a:ext cx="594360" cy="594360"/>
          </a:xfrm>
          <a:prstGeom prst="ellipse">
            <a:avLst/>
          </a:prstGeom>
          <a:solidFill>
            <a:srgbClr val="155E75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3989070"/>
            <a:ext cx="297180" cy="2971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691640" y="3840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代码/API 文档助手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60120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基于内部代码库和 API 文档的智能问答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960120" y="5074920"/>
            <a:ext cx="2834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0"/>
          <p:cNvSpPr/>
          <p:nvPr/>
        </p:nvSpPr>
        <p:spPr>
          <a:xfrm>
            <a:off x="960120" y="5138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提高开发效率，降低上手成本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389120" y="3566160"/>
            <a:ext cx="3383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389120" y="3566160"/>
            <a:ext cx="73152" cy="2011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Shape 33"/>
          <p:cNvSpPr/>
          <p:nvPr/>
        </p:nvSpPr>
        <p:spPr>
          <a:xfrm>
            <a:off x="4663440" y="384048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3989070"/>
            <a:ext cx="297180" cy="2971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94960" y="3840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需要实时/最新信息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4663440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新闻摘要、行业动态、竞品分析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4663440" y="5074920"/>
            <a:ext cx="2834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37"/>
          <p:cNvSpPr/>
          <p:nvPr/>
        </p:nvSpPr>
        <p:spPr>
          <a:xfrm>
            <a:off x="4663440" y="5138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突破大模型知识截止限制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092440" y="3566160"/>
            <a:ext cx="33832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092440" y="356616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Shape 40"/>
          <p:cNvSpPr/>
          <p:nvPr/>
        </p:nvSpPr>
        <p:spPr>
          <a:xfrm>
            <a:off x="8366760" y="3840480"/>
            <a:ext cx="594360" cy="5943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350" y="3989070"/>
            <a:ext cx="297180" cy="29718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098280" y="38404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需要可溯源回答</a:t>
            </a:r>
            <a:endParaRPr lang="en-US" sz="1500" dirty="0"/>
          </a:p>
        </p:txBody>
      </p:sp>
      <p:sp>
        <p:nvSpPr>
          <p:cNvPr id="50" name="Text 42"/>
          <p:cNvSpPr/>
          <p:nvPr/>
        </p:nvSpPr>
        <p:spPr>
          <a:xfrm>
            <a:off x="8366760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医疗、法律、金融等高风险领域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8366760" y="5074920"/>
            <a:ext cx="28346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44"/>
          <p:cNvSpPr/>
          <p:nvPr/>
        </p:nvSpPr>
        <p:spPr>
          <a:xfrm>
            <a:off x="8366760" y="5138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每个回答都能追溯到来源文档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4" name="Shape 46"/>
          <p:cNvSpPr/>
          <p:nvPr/>
        </p:nvSpPr>
        <p:spPr>
          <a:xfrm>
            <a:off x="548640" y="5806440"/>
            <a:ext cx="73152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5" name="Text 47"/>
          <p:cNvSpPr/>
          <p:nvPr/>
        </p:nvSpPr>
        <p:spPr>
          <a:xfrm>
            <a:off x="777240" y="58064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共同特征：</a:t>
            </a:r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知识量大且会更新   ✅ 需要准确而非创造性的回答   ✅ 需要可溯源   ✅ 私有/领域数据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什么时候不适合使用 RAG？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031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10312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64592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80136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纯创造性任务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写诗、写故事、创意文案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" y="3383280"/>
            <a:ext cx="18288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会引入既有内容的“惯性”，限制创造性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0" y="1371600"/>
            <a:ext cx="21031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0" y="1371600"/>
            <a:ext cx="210312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3474720" y="16459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801368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803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通用知识问答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8803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“什么是二分查找”“解释 RESTful API”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880360" y="3383280"/>
            <a:ext cx="18288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6"/>
          <p:cNvSpPr/>
          <p:nvPr/>
        </p:nvSpPr>
        <p:spPr>
          <a:xfrm>
            <a:off x="2880360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大模型本身已掌握，检索反而增加延迟和成本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0" y="1371600"/>
            <a:ext cx="21031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0" y="1371600"/>
            <a:ext cx="2103120" cy="73152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23" name="Shape 19"/>
          <p:cNvSpPr/>
          <p:nvPr/>
        </p:nvSpPr>
        <p:spPr>
          <a:xfrm>
            <a:off x="5760720" y="1645920"/>
            <a:ext cx="640080" cy="640080"/>
          </a:xfrm>
          <a:prstGeom prst="ellipse">
            <a:avLst/>
          </a:prstGeom>
          <a:solidFill>
            <a:srgbClr val="155E75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80136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663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简单/规则明确任务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1663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数据格式转换、简单计算、正则匹配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166360" y="3383280"/>
            <a:ext cx="18288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3"/>
          <p:cNvSpPr/>
          <p:nvPr/>
        </p:nvSpPr>
        <p:spPr>
          <a:xfrm>
            <a:off x="5166360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传统代码更可靠、更高效、成本更低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315200" y="1371600"/>
            <a:ext cx="21031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315200" y="1371600"/>
            <a:ext cx="2103120" cy="7315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1" name="Shape 26"/>
          <p:cNvSpPr/>
          <p:nvPr/>
        </p:nvSpPr>
        <p:spPr>
          <a:xfrm>
            <a:off x="8046720" y="1645920"/>
            <a:ext cx="640080" cy="640080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1801368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523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实时性要求极高（&lt;100ms）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4523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高频实时推荐、实时风控决策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452360" y="3383280"/>
            <a:ext cx="18288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0"/>
          <p:cNvSpPr/>
          <p:nvPr/>
        </p:nvSpPr>
        <p:spPr>
          <a:xfrm>
            <a:off x="7452360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+ LLM 生成链路延迟通常在 1-5 秒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9601200" y="1371600"/>
            <a:ext cx="21031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601200" y="1371600"/>
            <a:ext cx="210312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Shape 33"/>
          <p:cNvSpPr/>
          <p:nvPr/>
        </p:nvSpPr>
        <p:spPr>
          <a:xfrm>
            <a:off x="10332720" y="1645920"/>
            <a:ext cx="640080" cy="64008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1801368"/>
            <a:ext cx="320040" cy="3200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383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数据量极小/无文档积累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973836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只有几页文档，或知识全在专家脑子里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9738360" y="3383280"/>
            <a:ext cx="18288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37"/>
          <p:cNvSpPr/>
          <p:nvPr/>
        </p:nvSpPr>
        <p:spPr>
          <a:xfrm>
            <a:off x="9738360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建知识库的投入产出比太低，不如直接写 prompt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548640" y="4297680"/>
            <a:ext cx="73152" cy="20116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7" name="Text 40"/>
          <p:cNvSpPr/>
          <p:nvPr/>
        </p:nvSpPr>
        <p:spPr>
          <a:xfrm>
            <a:off x="82296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三问决策清单</a:t>
            </a:r>
            <a:endParaRPr lang="en-US" sz="1600" dirty="0"/>
          </a:p>
        </p:txBody>
      </p:sp>
      <p:sp>
        <p:nvSpPr>
          <p:cNvPr id="48" name="Shape 41"/>
          <p:cNvSpPr/>
          <p:nvPr/>
        </p:nvSpPr>
        <p:spPr>
          <a:xfrm>
            <a:off x="868680" y="4937760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9" name="Text 42"/>
          <p:cNvSpPr/>
          <p:nvPr/>
        </p:nvSpPr>
        <p:spPr>
          <a:xfrm>
            <a:off x="86868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128016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Q1: 大模型本身能回答好吗？</a:t>
            </a:r>
            <a:endParaRPr lang="en-US" sz="1300" dirty="0"/>
          </a:p>
        </p:txBody>
      </p:sp>
      <p:sp>
        <p:nvSpPr>
          <p:cNvPr id="51" name="Text 44"/>
          <p:cNvSpPr/>
          <p:nvPr/>
        </p:nvSpPr>
        <p:spPr>
          <a:xfrm>
            <a:off x="603504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 → 不需要 RAG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868680" y="534924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3" name="Text 46"/>
          <p:cNvSpPr/>
          <p:nvPr/>
        </p:nvSpPr>
        <p:spPr>
          <a:xfrm>
            <a:off x="868680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128016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Q2: 回答需要基于特定文档/数据吗？</a:t>
            </a:r>
            <a:endParaRPr lang="en-US" sz="1300" dirty="0"/>
          </a:p>
        </p:txBody>
      </p:sp>
      <p:sp>
        <p:nvSpPr>
          <p:cNvPr id="55" name="Text 48"/>
          <p:cNvSpPr/>
          <p:nvPr/>
        </p:nvSpPr>
        <p:spPr>
          <a:xfrm>
            <a:off x="603504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不需要 → 不需要 RAG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868680" y="5760720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7" name="Text 50"/>
          <p:cNvSpPr/>
          <p:nvPr/>
        </p:nvSpPr>
        <p:spPr>
          <a:xfrm>
            <a:off x="868680" y="5760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1"/>
          <p:cNvSpPr/>
          <p:nvPr/>
        </p:nvSpPr>
        <p:spPr>
          <a:xfrm>
            <a:off x="128016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Q3: 有足够的文档/数据可以建知识库吗？</a:t>
            </a:r>
            <a:endParaRPr lang="en-US" sz="1300" dirty="0"/>
          </a:p>
        </p:txBody>
      </p:sp>
      <p:sp>
        <p:nvSpPr>
          <p:cNvPr id="59" name="Text 52"/>
          <p:cNvSpPr/>
          <p:nvPr/>
        </p:nvSpPr>
        <p:spPr>
          <a:xfrm>
            <a:off x="6035040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没有 → 先积累数据</a:t>
            </a:r>
            <a:endParaRPr lang="en-US" sz="1200" dirty="0"/>
          </a:p>
        </p:txBody>
      </p:sp>
      <p:sp>
        <p:nvSpPr>
          <p:cNvPr id="60" name="Text 53"/>
          <p:cNvSpPr/>
          <p:nvPr/>
        </p:nvSpPr>
        <p:spPr>
          <a:xfrm>
            <a:off x="12801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三个都是“否”  →  </a:t>
            </a:r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考虑使用 RAG ✅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实战场景①：企业知识库问答系统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1645920"/>
            <a:ext cx="3200400" cy="4572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用户界面（Web / IM Bot）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63040" y="2377440"/>
            <a:ext cx="3200400" cy="457200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网关（鉴权 / 限流）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108960"/>
            <a:ext cx="4114800" cy="137160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引擎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4747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Query 理解与改写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721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混合检索（向量 + BM25）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9684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Reranker 重排序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2153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 生成（附引用来源）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2103120" cy="4572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4754880"/>
            <a:ext cx="2103120" cy="457200"/>
          </a:xfrm>
          <a:prstGeom prst="rect">
            <a:avLst/>
          </a:prstGeom>
          <a:solidFill>
            <a:srgbClr val="155E7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原始文档库 (MySQL/OSS)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280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技术选型参考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1691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文档处理：LangChain / LlamaIndex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0116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向量数据库：Milvus（生产）/ Chroma（原型）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3317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Embedding：BGE-large-zh（中文私有化）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6517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LLM：GPT-4 / Claude / 本地 Qwen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971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后端：FastAPI / Spring Boot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291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落地中的三个关键挑战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3703320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703320"/>
            <a:ext cx="73152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文档质量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023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格式杂乱、内容过时、互相矛盾</a:t>
            </a:r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建立文档治理流程 + 定期更新机制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617720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461772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不同部门只能查自己部门的文档</a:t>
            </a:r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 过滤：入库打标签，检索按权限过滤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5532120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5532120"/>
            <a:ext cx="73152" cy="8229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效果评估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46520" y="5852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“答得准不准”难以量化</a:t>
            </a:r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建立评测集 + RAGAS 指标体系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实战场景②：智能代码助手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与通用 AI 编程助手的区别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Copilot/灵码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 代码助手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知识来源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公开代码训练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你的私有代码库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擅长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通用代码补全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 API、项目架构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当前文件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全仓库 + 文档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RAG 的特殊处理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1188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611880"/>
            <a:ext cx="73152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分块策略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9456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按函数/类/接口定义切分，保留完整语义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178808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4178808"/>
            <a:ext cx="73152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1788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 解析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9456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用抽象语法树精确定位代码结构边界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745736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4745736"/>
            <a:ext cx="73152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7457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多粒度索引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194560" y="4745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函数级（精确查找）+ 文件级（理解职责）+ 模块级（理解架构）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312664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5312664"/>
            <a:ext cx="73152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3126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代码注释配对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194560" y="5312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将注释与代码块关联存储，提升检索效果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1234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典型问答示例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0" y="1645920"/>
            <a:ext cx="5212080" cy="502920"/>
          </a:xfrm>
          <a:prstGeom prst="rect">
            <a:avLst/>
          </a:prstGeom>
          <a:solidFill>
            <a:srgbClr val="CFF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0" y="1645920"/>
            <a:ext cx="73152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用户：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我们的支付回调是怎么处理的？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0" y="2286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 →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75120" y="25603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找到 PaymentCallbackController.handle()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75120" y="2834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找到相关 Service 代码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0" y="3291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 →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0" y="3611880"/>
            <a:ext cx="521208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0" y="37490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支付回调入口在 PaymentCallbackController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.handle() 方法，主要流程：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验签 → 2. 解析回调数据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更新订单状态 → 4. 发送 MQ 通知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核心代码如下：...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思考问题①：RAG 中的幻觉问题如何解决？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思考：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在使用 RAG 时，大模型仍然会“编造”检索结果中没有的信息，你如何解决这个问题？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94960" cy="7772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6596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检索阶段幻觉
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检索不到相关内容，但系统仍生成回答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7772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96596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0574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生成阶段幻觉
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无视上下文，凭自身知识编造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提升召回率 + 设置相似度阈值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低于阈值直接返回“未找到”，不强行回答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Prompt层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明确约束 + 要求引用来源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“仅基于参考资料回答，没有就说不知道”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后处理校验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用另一个 LLM 校验回答是否与检索内容一致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5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兜底策略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检索结果为空时转人工客服或返回标准话术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223760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 Prompt 模板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223760" y="3291840"/>
            <a:ext cx="438912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0" y="342900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你是一个严谨的问答助手。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请仅根据以下【参考资料】回答。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【规则】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只能使用参考资料中的信息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资料中没有 → 回答“无法回答”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标注来源 [来源:文档名-段落号]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【参考资料】{retrieved_context}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【用户问题】{user_question}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思考问题②：如何提升 RAG 的检索准确率？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思考：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系统检索效果不理想，经常检索到不相关的内容，你会从哪些方面优化？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3832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011680"/>
            <a:ext cx="3383280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分块策略调优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数据清洗（去噪/去重）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 标注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父子分块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2011680"/>
            <a:ext cx="33832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2011680"/>
            <a:ext cx="338328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混合检索（向量+BM25）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Reranker 重排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多路召回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 Top-K（5-10）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2011680"/>
            <a:ext cx="338328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2011680"/>
            <a:ext cx="3383280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6676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改写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扩展（同义查询）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HyDE 技术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意图识别路由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1064240" cy="502920"/>
          </a:xfrm>
          <a:prstGeom prst="rect">
            <a:avLst/>
          </a:prstGeom>
          <a:solidFill>
            <a:srgbClr val="CFF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754880"/>
            <a:ext cx="73152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54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改写示例：</a:t>
            </a:r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“登录不了怎么办”</a:t>
            </a:r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algn="l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“账号登录失败 排查方法”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440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诊断方法论：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77440" y="544068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检索结果不相关 → 检索层/查询层问题（Query改写? 混合检索? Reranker?）  |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相关但回答错误 → 生成层问题（Prompt约束? Context过长导致中间遗忘?）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3716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20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效果评估——怎么知道“答得准不准”？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" y="12801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280160"/>
            <a:ext cx="260604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55448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6294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Faithfulness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忠实度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回答是否忠于检索上下文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0100" y="3429000"/>
            <a:ext cx="20574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" y="3493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有没有幻觉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0420" y="12801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60420" y="1280160"/>
            <a:ext cx="260604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55448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9758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 Relevancy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9758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回答相关性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9758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回答是否切题回答了问题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34740" y="3429000"/>
            <a:ext cx="20574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3497580" y="3493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有没有答非所问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5060" y="12801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5060" y="1280160"/>
            <a:ext cx="2606040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0" y="155448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3222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Precision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222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上下文精确率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3222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检索内容中有多少相关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69380" y="3429000"/>
            <a:ext cx="20574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332220" y="3493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检索准不准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29700" y="128016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29700" y="1280160"/>
            <a:ext cx="2606040" cy="7315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4" name="Shape 32"/>
          <p:cNvSpPr/>
          <p:nvPr/>
        </p:nvSpPr>
        <p:spPr>
          <a:xfrm>
            <a:off x="9966960" y="155448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5" name="Text 33"/>
          <p:cNvSpPr/>
          <p:nvPr/>
        </p:nvSpPr>
        <p:spPr>
          <a:xfrm>
            <a:off x="99669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166860" y="2423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Recall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66860" y="2743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上下文召回率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6686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应检索到的是否都检索到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304020" y="3429000"/>
            <a:ext cx="20574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166860" y="3493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检索全不全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114800"/>
            <a:ext cx="5943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4114800"/>
            <a:ext cx="73152" cy="2286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评估流程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22960" y="461772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23444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构建评测集：人工标注 50-100 个 (问题, 标准答案, 相关文档) 三元组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4965192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" y="4965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234440" y="4965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RAG 系统跑评测集，得到 (检索结果, 生成回答)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2960" y="5312664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5312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234440" y="5312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RAGAS 自动计算四个指标分数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2960" y="5660136"/>
            <a:ext cx="274320" cy="274320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54" name="Text 52"/>
          <p:cNvSpPr/>
          <p:nvPr/>
        </p:nvSpPr>
        <p:spPr>
          <a:xfrm>
            <a:off x="822960" y="5660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234440" y="5660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针对低分项定向优化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22960" y="6007608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6007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234440" y="6007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766560" y="4114800"/>
            <a:ext cx="48463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766560" y="4114800"/>
            <a:ext cx="73152" cy="228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1" name="Text 59"/>
          <p:cNvSpPr/>
          <p:nvPr/>
        </p:nvSpPr>
        <p:spPr>
          <a:xfrm>
            <a:off x="6995160" y="4251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其他实用评估方法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995160" y="4663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人工评估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：最靠谱但成本高，适合小规模抽检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995160" y="5074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LLM-as-Judge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 GPT-4 作为裁判给回答打分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995160" y="5486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测试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：线上灰度对比不同方案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995160" y="5897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</a:t>
            </a:r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：点赞/点踩按钮，收集 bad case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0E749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3716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37160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大模型三大硬伤：知识截止 / 领域盲区 / 幻觉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137160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105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810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+ 增强 + 生成 = 给大模型配“可搜索图书馆”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1371600" cy="411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408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怎么工作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离线入库（解析→分块→向量化→存储）+ 在线问答（检索→重排→生成）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137160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712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8712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分块策略 / Embedding + 向量库 / 混合检索 + 重排序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137160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015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何时使用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401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知识量大且更新、需准确、需溯源、私有数据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实战场景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931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企业知识库问答 / 智能代码助手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462272"/>
            <a:ext cx="137160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62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思考问题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44622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幻觉解决（全链路防护）/ 检索优化（数据+检索+查询三层）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92624"/>
            <a:ext cx="1371600" cy="4114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9926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评估方法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49926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RAGAS 四指标：忠实度 / 回答相关性 / 上下文精确率 / 召回率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三句话带走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66560" y="1737360"/>
            <a:ext cx="4846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1737360"/>
            <a:ext cx="73152" cy="1005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2" name="Shape 30"/>
          <p:cNvSpPr/>
          <p:nvPr/>
        </p:nvSpPr>
        <p:spPr>
          <a:xfrm>
            <a:off x="6995160" y="2011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58952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的本质是“开卷考试”——先查资料再答题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2926080"/>
            <a:ext cx="4846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2926080"/>
            <a:ext cx="73152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Shape 35"/>
          <p:cNvSpPr/>
          <p:nvPr/>
        </p:nvSpPr>
        <p:spPr>
          <a:xfrm>
            <a:off x="6995160" y="32004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69951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8952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核心价值：让大模型基于“你的真实数据”回答，可溯源、可更新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766560" y="4114800"/>
            <a:ext cx="4846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4114800"/>
            <a:ext cx="73152" cy="10058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2" name="Shape 40"/>
          <p:cNvSpPr/>
          <p:nvPr/>
        </p:nvSpPr>
        <p:spPr>
          <a:xfrm>
            <a:off x="6995160" y="4389120"/>
            <a:ext cx="457200" cy="45720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3" name="Text 41"/>
          <p:cNvSpPr/>
          <p:nvPr/>
        </p:nvSpPr>
        <p:spPr>
          <a:xfrm>
            <a:off x="69951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589520" y="4251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效果上限由检索决定，下限由 Prompt 兜底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推荐学习资源：LangChain 官方文档  ·  LlamaIndex 官方文档  ·  RAG 原始论文（2020）  ·  RAG 最佳实践综述（2024）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E74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0369A1">
              <a:alpha val="13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828800"/>
            <a:ext cx="1216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166360" y="3291840"/>
            <a:ext cx="18288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47472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和 Agent 有什么关系？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快速试一个 RAG demo 最快多久？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的成本主要在哪？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Q: </a:t>
            </a:r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向量数据库和 ES 有什么区别？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技术分享</dc:title>
  <dc:subject>PptxGenJS Presentation</dc:subject>
  <dc:creator>Tech Team</dc:creator>
  <cp:lastModifiedBy>Tech Team</cp:lastModifiedBy>
  <cp:revision>1</cp:revision>
  <dcterms:created xsi:type="dcterms:W3CDTF">2026-07-05T16:01:48Z</dcterms:created>
  <dcterms:modified xsi:type="dcterms:W3CDTF">2026-07-05T16:01:48Z</dcterms:modified>
</cp:coreProperties>
</file>