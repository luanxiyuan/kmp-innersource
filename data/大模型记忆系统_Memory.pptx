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077B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087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大模型记忆系统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166360" y="4297680"/>
            <a:ext cx="1828800" cy="36576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 "记住"过去，才能更好地服务未来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技术知识分享  ·  30 分钟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开场互动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你遇到过这种情况吗？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33832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54864" cy="29260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1828800"/>
            <a:ext cx="731520" cy="73152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199339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场景 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你跟 ChatGPT 聊了 20 轮，它突然"忘了"第 3 轮你说过的重要约束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0" y="1463040"/>
            <a:ext cx="33832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463040"/>
            <a:ext cx="54864" cy="29260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0" y="1828800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199339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场景 B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6344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你问 AI 助手"帮我改一下上周那个 bug"，它完全不知道"上周那个 bug"是什么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38160" y="1463040"/>
            <a:ext cx="33832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38160" y="1463040"/>
            <a:ext cx="54864" cy="292608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9" name="Shape 15"/>
          <p:cNvSpPr/>
          <p:nvPr/>
        </p:nvSpPr>
        <p:spPr>
          <a:xfrm>
            <a:off x="9464040" y="1828800"/>
            <a:ext cx="731520" cy="731520"/>
          </a:xfrm>
          <a:prstGeom prst="ellipse">
            <a:avLst/>
          </a:prstGeom>
          <a:solidFill>
            <a:srgbClr val="FB85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199339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场景 C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1248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团队用了 AI 客服，但每个客户每次对话都要重新自我介绍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371600" y="4754880"/>
            <a:ext cx="9418320" cy="64008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1371600" y="47548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互动问题：</a:t>
            </a:r>
            <a:pPr algn="ctr"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以上三个场景，你觉得哪个最让人崩溃？为什么？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核心动机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为什么大模型需要记忆系统？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大模型的"先天缺陷"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6692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1351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上下文窗口有限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~ 200K tokens，聊多了早期内容被"挤出去"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880360"/>
            <a:ext cx="56692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318668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无状态设计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6304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每次请求都是"新的一次"，不记得上次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6692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423824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训练数据有截止日期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46304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不知道最新的业务数据、团队文档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983480"/>
            <a:ext cx="56692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5166360"/>
            <a:ext cx="548640" cy="54864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528980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无法记住用户偏好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46304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每次都要重新理解你是谁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675120" y="1371600"/>
            <a:ext cx="4937760" cy="4206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94944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用开发的类比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949440" y="21031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 </a:t>
            </a:r>
            <a:pPr indent="0" marL="0">
              <a:buNone/>
            </a:pPr>
            <a:r>
              <a:rPr lang="en-US" sz="13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无状态的函数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f(input) → output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记忆系统 </a:t>
            </a:r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给函数加上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"外部状态存储"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949440" y="4572000"/>
            <a:ext cx="4389120" cy="73152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6949440" y="4572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就像纯函数加数据库 → 有状态服务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框架总览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记忆系统的核心目标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2606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0604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394460" y="178308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194767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记住什么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971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对话历史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用户画像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4206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事实知识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任务上下文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37560" y="1463040"/>
            <a:ext cx="2606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7560" y="1463040"/>
            <a:ext cx="260604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7" name="Shape 14"/>
          <p:cNvSpPr/>
          <p:nvPr/>
        </p:nvSpPr>
        <p:spPr>
          <a:xfrm>
            <a:off x="4274820" y="1783080"/>
            <a:ext cx="731520" cy="73152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1947672"/>
            <a:ext cx="402336" cy="402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2900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怎么存储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429000" y="2971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65760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向量数据库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5760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知识图谱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657600" y="4206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关系数据库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65760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键值缓存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217920" y="1463040"/>
            <a:ext cx="2606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17920" y="1463040"/>
            <a:ext cx="260604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7" name="Shape 23"/>
          <p:cNvSpPr/>
          <p:nvPr/>
        </p:nvSpPr>
        <p:spPr>
          <a:xfrm>
            <a:off x="7155180" y="1783080"/>
            <a:ext cx="731520" cy="731520"/>
          </a:xfrm>
          <a:prstGeom prst="ellipse">
            <a:avLst/>
          </a:prstGeom>
          <a:solidFill>
            <a:srgbClr val="FB8500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1947672"/>
            <a:ext cx="402336" cy="40233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0936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如何检索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309360" y="2971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53796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语义相似度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53796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关键词+语义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537960" y="4206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时间衰减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53796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实体关联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9098280" y="1463040"/>
            <a:ext cx="2606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9098280" y="1463040"/>
            <a:ext cx="2606040" cy="7315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7" name="Shape 32"/>
          <p:cNvSpPr/>
          <p:nvPr/>
        </p:nvSpPr>
        <p:spPr>
          <a:xfrm>
            <a:off x="10035540" y="1783080"/>
            <a:ext cx="731520" cy="73152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0132" y="1947672"/>
            <a:ext cx="402336" cy="40233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18972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何时遗忘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9189720" y="2971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9418320" y="33832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过期淘汰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941832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容量限制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9418320" y="4206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冲突合并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9418320" y="461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用户删除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类比缓存系统设计：写入策略 · 存储介质 · 读取策略 · 淘汰策略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核心知识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大模型的"记忆"本质：上下文窗口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上下文窗口 = 大模型一次能"看见"的全部文本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534886" cy="64008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15348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29246" y="1920240"/>
            <a:ext cx="1534886" cy="64008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29246" y="1920240"/>
            <a:ext cx="15348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09851" y="1920240"/>
            <a:ext cx="1534886" cy="640080"/>
          </a:xfrm>
          <a:prstGeom prst="rect">
            <a:avLst/>
          </a:prstGeom>
          <a:solidFill>
            <a:srgbClr val="FB8500">
              <a:alpha val="25000"/>
            </a:srgbClr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9851" y="1920240"/>
            <a:ext cx="15348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AI回复1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90457" y="1920240"/>
            <a:ext cx="1534886" cy="64008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0457" y="1920240"/>
            <a:ext cx="15348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71063" y="1920240"/>
            <a:ext cx="1534886" cy="640080"/>
          </a:xfrm>
          <a:prstGeom prst="rect">
            <a:avLst/>
          </a:prstGeom>
          <a:solidFill>
            <a:srgbClr val="FB8500">
              <a:alpha val="25000"/>
            </a:srgbClr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1063" y="1920240"/>
            <a:ext cx="15348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AI回复2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451669" y="1920240"/>
            <a:ext cx="1534886" cy="640080"/>
          </a:xfrm>
          <a:prstGeom prst="rect">
            <a:avLst/>
          </a:prstGeom>
          <a:solidFill>
            <a:srgbClr val="6C757D">
              <a:alpha val="25000"/>
            </a:srgbClr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1669" y="1920240"/>
            <a:ext cx="15348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32274" y="1920240"/>
            <a:ext cx="1534886" cy="640080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32274" y="1920240"/>
            <a:ext cx="15348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606040"/>
            <a:ext cx="11064240" cy="36576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51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◄──────── 上下文窗口大小（如 128K tokens）────────►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各模型上下文窗口大小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611880"/>
            <a:ext cx="54864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611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023360"/>
            <a:ext cx="54864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434840"/>
            <a:ext cx="54864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tokens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846320"/>
            <a:ext cx="4572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846320"/>
            <a:ext cx="54864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846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17520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tokens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760720" y="3200400"/>
            <a:ext cx="5852160" cy="2011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474720"/>
            <a:ext cx="457200" cy="457200"/>
          </a:xfrm>
          <a:prstGeom prst="ellipse">
            <a:avLst/>
          </a:prstGeom>
          <a:solidFill>
            <a:srgbClr val="FB8500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7910" y="3577590"/>
            <a:ext cx="251460" cy="25146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67512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窗口越大 ≠ 越好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6035040" y="4114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注意力分散（Lost in the Middle 现象）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成本随 token 数线性增长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中间内容容易被忽略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核心知识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记忆的分类：短期、长期、工作记忆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71600"/>
            <a:ext cx="33832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71600"/>
            <a:ext cx="338328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6459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176936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短期记忆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当前对话上下文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当前任务状态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最近 N 轮对话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4114800"/>
            <a:ext cx="3017520" cy="5486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存储：</a:t>
            </a:r>
            <a:pPr indent="0" marL="0">
              <a:buNone/>
            </a:pPr>
            <a:r>
              <a:rPr lang="en-US" sz="10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 / 缓存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生命周期：</a:t>
            </a:r>
            <a:pPr indent="0" marL="0">
              <a:buNone/>
            </a:pPr>
            <a:r>
              <a:rPr lang="en-US" sz="10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会话级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89120" y="1371600"/>
            <a:ext cx="33832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Shape 15"/>
          <p:cNvSpPr/>
          <p:nvPr/>
        </p:nvSpPr>
        <p:spPr>
          <a:xfrm>
            <a:off x="4663440" y="1645920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1769364"/>
            <a:ext cx="301752" cy="3017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长期记忆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39496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0916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用户画像 / 偏好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0916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历史对话摘要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7091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事实知识库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70916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实体关系图谱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572000" y="4114800"/>
            <a:ext cx="3017520" cy="5486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7" name="Text 23"/>
          <p:cNvSpPr/>
          <p:nvPr/>
        </p:nvSpPr>
        <p:spPr>
          <a:xfrm>
            <a:off x="466344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存储：</a:t>
            </a:r>
            <a:pPr indent="0" marL="0">
              <a:buNone/>
            </a:pPr>
            <a:r>
              <a:rPr lang="en-US" sz="10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向量DB / 图DB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生命周期：</a:t>
            </a:r>
            <a:pPr indent="0" marL="0">
              <a:buNone/>
            </a:pPr>
            <a:r>
              <a:rPr lang="en-US" sz="10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092440" y="1371600"/>
            <a:ext cx="33832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92440" y="1371600"/>
            <a:ext cx="338328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0" name="Shape 26"/>
          <p:cNvSpPr/>
          <p:nvPr/>
        </p:nvSpPr>
        <p:spPr>
          <a:xfrm>
            <a:off x="8366760" y="1645920"/>
            <a:ext cx="548640" cy="548640"/>
          </a:xfrm>
          <a:prstGeom prst="ellipse">
            <a:avLst/>
          </a:prstGeom>
          <a:solidFill>
            <a:srgbClr val="FB8500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1769364"/>
            <a:ext cx="301752" cy="30175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09828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工作记忆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909828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41248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从长期记忆中检索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41248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与当前任务相关的信息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841248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= 短期记忆 + 检索结果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8275320" y="4114800"/>
            <a:ext cx="3017520" cy="5486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8" name="Text 33"/>
          <p:cNvSpPr/>
          <p:nvPr/>
        </p:nvSpPr>
        <p:spPr>
          <a:xfrm>
            <a:off x="836676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存储：</a:t>
            </a:r>
            <a:pPr indent="0" marL="0">
              <a:buNone/>
            </a:pPr>
            <a:r>
              <a:rPr lang="en-US" sz="10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动态组装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生命周期：</a:t>
            </a:r>
            <a:pPr indent="0" marL="0">
              <a:buNone/>
            </a:pPr>
            <a:r>
              <a:rPr lang="en-US" sz="10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请求级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5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开发类比：</a:t>
            </a:r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短期记忆 = Session  ·  </a:t>
            </a:r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长期记忆 = 数据库  ·  </a:t>
            </a:r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工作记忆 = 缓存 + 查询组装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核心知识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记忆存储的技术方案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3108960"/>
                <a:gridCol w="31089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存储方案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优点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缺点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向量数据库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(FAISS/Chroma)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语义检索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对话历史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文档知识库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语义相似度匹配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模糊查询友好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需要嵌入模型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精确查询弱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键值存储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(Redis)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用户画像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会话状态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读写极快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结构简单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成本低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无法语义检索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需预定义 key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关系数据库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(PostgreSQL)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结构化事实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实体属性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事务一致性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查询能力强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语义检索需额外层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schema 固定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知识图谱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(Neo4j)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实体关系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因果链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关系推理强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可解释性好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构建维护成本高</a:t>
                      </a:r>
                      <a:endParaRPr lang="en-US" sz="1100" dirty="0"/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查询复杂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实际项目通常是混合方案：</a:t>
            </a:r>
            <a:pPr algn="ctr"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Redis（会话状态）+ 向量DB（语义检索）+ 关系DB（结构化数据）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核心知识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核心设计模式总览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对话缓冲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Buffer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原样保存全部对话历史，直接拼入 prompt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4754880" cy="292608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97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简单但窗口会爆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303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2376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对话摘要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18745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Summary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LLM 对历史对话生成摘要，保存摘要而非原文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2697480"/>
            <a:ext cx="4754880" cy="292608"/>
          </a:xfrm>
          <a:prstGeom prst="rect">
            <a:avLst/>
          </a:prstGeom>
          <a:solidFill>
            <a:srgbClr val="0077B6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697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压缩了但可能丢细节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5303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703320"/>
            <a:ext cx="548640" cy="5486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检索增强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3931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297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将记忆向量化存储，按需检索相关片段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754880"/>
            <a:ext cx="4754880" cy="292608"/>
          </a:xfrm>
          <a:prstGeom prst="rect">
            <a:avLst/>
          </a:prstGeom>
          <a:solidFill>
            <a:srgbClr val="FB8500">
              <a:alpha val="1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754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主流方案，精度高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429000"/>
            <a:ext cx="5303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3703320"/>
            <a:ext cx="548640" cy="548640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实体记忆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3931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Memory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4297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提取对话中的实体及属性，结构化存储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83680" y="4754880"/>
            <a:ext cx="4754880" cy="292608"/>
          </a:xfrm>
          <a:prstGeom prst="rect">
            <a:avLst/>
          </a:prstGeom>
          <a:solidFill>
            <a:srgbClr val="06A77D">
              <a:alpha val="1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4754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适合用户画像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实际工程组合使用：</a:t>
            </a:r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Buffer（近 3 轮）+ Summary（更早摘要）+ RAG（知识库检索）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核心知识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RAG：检索增强生成（重点）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754380" y="1463040"/>
            <a:ext cx="2286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4380" y="1463040"/>
            <a:ext cx="2286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1577340" y="173736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358" y="188137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离线阶段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5820" y="2743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文档切分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4582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200-500 tokens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2240280"/>
            <a:ext cx="32004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543300" y="1463040"/>
            <a:ext cx="2286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43300" y="1463040"/>
            <a:ext cx="228600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Shape 11"/>
          <p:cNvSpPr/>
          <p:nvPr/>
        </p:nvSpPr>
        <p:spPr>
          <a:xfrm>
            <a:off x="4366260" y="1737360"/>
            <a:ext cx="640080" cy="64008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278" y="18813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347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向量化存储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34740" y="2743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63474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存入向量DB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240280"/>
            <a:ext cx="32004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332220" y="1463040"/>
            <a:ext cx="2286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32220" y="1463040"/>
            <a:ext cx="228600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3" name="Shape 17"/>
          <p:cNvSpPr/>
          <p:nvPr/>
        </p:nvSpPr>
        <p:spPr>
          <a:xfrm>
            <a:off x="7155180" y="1737360"/>
            <a:ext cx="640080" cy="640080"/>
          </a:xfrm>
          <a:prstGeom prst="ellipse">
            <a:avLst/>
          </a:prstGeom>
          <a:solidFill>
            <a:srgbClr val="FB850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9198" y="1881378"/>
            <a:ext cx="352044" cy="3520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2366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在线检索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423660" y="2743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42366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语义相似度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匹配</a:t>
            </a:r>
            <a:endParaRPr lang="en-US" sz="10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9660" y="2240280"/>
            <a:ext cx="320040" cy="27432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121140" y="1463040"/>
            <a:ext cx="2286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9121140" y="1463040"/>
            <a:ext cx="2286000" cy="73152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31" name="Shape 23"/>
          <p:cNvSpPr/>
          <p:nvPr/>
        </p:nvSpPr>
        <p:spPr>
          <a:xfrm>
            <a:off x="9944100" y="1737360"/>
            <a:ext cx="640080" cy="640080"/>
          </a:xfrm>
          <a:prstGeom prst="ellipse">
            <a:avLst/>
          </a:prstGeom>
          <a:solidFill>
            <a:srgbClr val="06A77D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8118" y="1881378"/>
            <a:ext cx="352044" cy="3520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21258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生成回答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9212580" y="2743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921258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拼接上下文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48640" y="3657600"/>
            <a:ext cx="11064240" cy="11887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关键类比：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开卷考试</a:t>
            </a:r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大模型是考生，向量数据库是课本，RAG 帮考生快速翻到相关页面答题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548640" y="5074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关键参数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2468880" y="5029200"/>
            <a:ext cx="21945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1"/>
          <p:cNvSpPr/>
          <p:nvPr/>
        </p:nvSpPr>
        <p:spPr>
          <a:xfrm>
            <a:off x="2468880" y="502920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1" name="Text 32"/>
          <p:cNvSpPr/>
          <p:nvPr/>
        </p:nvSpPr>
        <p:spPr>
          <a:xfrm>
            <a:off x="2606040" y="5074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chunk_size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2606040" y="5349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200-500 tokens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4846320" y="5029200"/>
            <a:ext cx="21945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5"/>
          <p:cNvSpPr/>
          <p:nvPr/>
        </p:nvSpPr>
        <p:spPr>
          <a:xfrm>
            <a:off x="4846320" y="502920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5" name="Text 36"/>
          <p:cNvSpPr/>
          <p:nvPr/>
        </p:nvSpPr>
        <p:spPr>
          <a:xfrm>
            <a:off x="4983480" y="5074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overlap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4983480" y="5349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tokens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7223760" y="5029200"/>
            <a:ext cx="21945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39"/>
          <p:cNvSpPr/>
          <p:nvPr/>
        </p:nvSpPr>
        <p:spPr>
          <a:xfrm>
            <a:off x="7223760" y="502920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9" name="Text 40"/>
          <p:cNvSpPr/>
          <p:nvPr/>
        </p:nvSpPr>
        <p:spPr>
          <a:xfrm>
            <a:off x="7360920" y="5074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7360920" y="5349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9601200" y="5029200"/>
            <a:ext cx="21945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3"/>
          <p:cNvSpPr/>
          <p:nvPr/>
        </p:nvSpPr>
        <p:spPr>
          <a:xfrm>
            <a:off x="9601200" y="5029200"/>
            <a:ext cx="54864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3" name="Text 44"/>
          <p:cNvSpPr/>
          <p:nvPr/>
        </p:nvSpPr>
        <p:spPr>
          <a:xfrm>
            <a:off x="9738360" y="5074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similarity_threshold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9738360" y="5349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0.7-0.85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核心知识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对话记忆策略对比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737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Buffer Memory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（全量缓冲）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Summary Memory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（摘要记忆）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Window Buffer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（滑动窗口）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3B"/>
                          </a:solidFill>
                        </a:rPr>
                        <a:t>存储内容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全部对话原文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LLM 生成的摘要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最近 K 轮原文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3B"/>
                          </a:solidFill>
                        </a:rPr>
                        <a:t>Token 消耗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O(n) 线性增长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O(1) 固定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O(k) 固定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3B"/>
                          </a:solidFill>
                        </a:rPr>
                        <a:t>信息保留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完整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有损（摘要丢失）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近期完整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3B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短对话 / 调试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长对话 / 客服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中等长度对话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63B"/>
                          </a:solidFill>
                        </a:rPr>
                        <a:t>工程实践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828"/>
                          </a:solidFill>
                        </a:rPr>
                        <a:t>✗ 生产慎用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A77D"/>
                          </a:solidFill>
                        </a:rPr>
                        <a:t>✓ 最常用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A77D"/>
                          </a:solidFill>
                        </a:rPr>
                        <a:t>✓ 常用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371600"/>
            <a:ext cx="3840480" cy="3383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552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推荐组合策略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210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37744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210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历史摘要（Summary）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83464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210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最近 3 轮原文（Window）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91840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2104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RAG 检索结果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749040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2104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当前用户输入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开发类比：</a:t>
            </a:r>
            <a:pPr algn="ctr"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日志系统 — 最近几天全量(Window) + 更早压缩归档(Summary) + 需要时搜索(RAG)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核心知识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记忆的生命周期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69164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778" y="183565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写入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每轮对话后 · 检测到事实 · 用户指定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331720"/>
            <a:ext cx="32004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74720" y="146304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3400" y="1691640"/>
            <a:ext cx="640080" cy="64008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418" y="1835658"/>
            <a:ext cx="352044" cy="3520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616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检索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566160" y="2697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61188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语义检索 · 关键词 · 实体关联 · 时间排序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331720"/>
            <a:ext cx="32004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146304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178040" y="1691640"/>
            <a:ext cx="640080" cy="640080"/>
          </a:xfrm>
          <a:prstGeom prst="ellipse">
            <a:avLst/>
          </a:prstGeom>
          <a:solidFill>
            <a:srgbClr val="FB850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058" y="1835658"/>
            <a:ext cx="352044" cy="3520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更新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400800" y="2697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44652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用户纠正 · 信息变更 · 冲突检测 · 定期合并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331720"/>
            <a:ext cx="32004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144000" y="146304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10012680" y="169164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6698" y="1835658"/>
            <a:ext cx="352044" cy="3520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23544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遗忘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9235440" y="2697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928116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时间衰减 · 容量超限 · 主动删除 · 低频访问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遗忘策略（类比缓存淘汰算法）</a:t>
            </a:r>
            <a:endParaRPr lang="en-US" sz="1400" dirty="0"/>
          </a:p>
        </p:txBody>
      </p:sp>
      <p:sp>
        <p:nvSpPr>
          <p:cNvPr id="33" name="Shape 24"/>
          <p:cNvSpPr/>
          <p:nvPr/>
        </p:nvSpPr>
        <p:spPr>
          <a:xfrm>
            <a:off x="548640" y="4206240"/>
            <a:ext cx="5303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5"/>
          <p:cNvSpPr/>
          <p:nvPr/>
        </p:nvSpPr>
        <p:spPr>
          <a:xfrm>
            <a:off x="548640" y="4206240"/>
            <a:ext cx="54864" cy="4114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5" name="Text 26"/>
          <p:cNvSpPr/>
          <p:nvPr/>
        </p:nvSpPr>
        <p:spPr>
          <a:xfrm>
            <a:off x="73152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2103120" y="4206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先存先忘（简单粗暴）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48640" y="4709160"/>
            <a:ext cx="5303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29"/>
          <p:cNvSpPr/>
          <p:nvPr/>
        </p:nvSpPr>
        <p:spPr>
          <a:xfrm>
            <a:off x="548640" y="4709160"/>
            <a:ext cx="54864" cy="4114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9" name="Text 30"/>
          <p:cNvSpPr/>
          <p:nvPr/>
        </p:nvSpPr>
        <p:spPr>
          <a:xfrm>
            <a:off x="73152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LRU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2103120" y="4709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最久未访问先忘（最常用）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548640" y="5212080"/>
            <a:ext cx="5303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3"/>
          <p:cNvSpPr/>
          <p:nvPr/>
        </p:nvSpPr>
        <p:spPr>
          <a:xfrm>
            <a:off x="548640" y="5212080"/>
            <a:ext cx="54864" cy="4114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3" name="Text 34"/>
          <p:cNvSpPr/>
          <p:nvPr/>
        </p:nvSpPr>
        <p:spPr>
          <a:xfrm>
            <a:off x="731520" y="5212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时间衰减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2103120" y="5212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越旧权重越低，低于阈值则遗忘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6217920" y="4206240"/>
            <a:ext cx="5303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7"/>
          <p:cNvSpPr/>
          <p:nvPr/>
        </p:nvSpPr>
        <p:spPr>
          <a:xfrm>
            <a:off x="6217920" y="4206240"/>
            <a:ext cx="54864" cy="4114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7" name="Text 38"/>
          <p:cNvSpPr/>
          <p:nvPr/>
        </p:nvSpPr>
        <p:spPr>
          <a:xfrm>
            <a:off x="64008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语义去重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7772400" y="4206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相似度高的合并，保留信息密度最高的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6217920" y="4709160"/>
            <a:ext cx="530352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1"/>
          <p:cNvSpPr/>
          <p:nvPr/>
        </p:nvSpPr>
        <p:spPr>
          <a:xfrm>
            <a:off x="6217920" y="4709160"/>
            <a:ext cx="54864" cy="41148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1" name="Text 42"/>
          <p:cNvSpPr/>
          <p:nvPr/>
        </p:nvSpPr>
        <p:spPr>
          <a:xfrm>
            <a:off x="640080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重要性评分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7772400" y="4709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LLM 对记忆打分，低分遗忘</a:t>
            </a:r>
            <a:endParaRPr lang="en-US" sz="1100" dirty="0"/>
          </a:p>
        </p:txBody>
      </p:sp>
      <p:sp>
        <p:nvSpPr>
          <p:cNvPr id="53" name="Shape 44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4" name="Text 45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好的记忆系统不是"记住一切"，而是"记住重要的，遗忘冗余的"</a:t>
            </a:r>
            <a:endParaRPr lang="en-US" sz="1300" dirty="0"/>
          </a:p>
        </p:txBody>
      </p:sp>
      <p:sp>
        <p:nvSpPr>
          <p:cNvPr id="55" name="Text 4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实战场景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场景一：智能代码助手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16459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无记忆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"好的，我来帮你写..."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（用了 Express，但你的项目是 Spring Boot 的）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03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371600"/>
            <a:ext cx="54864" cy="164592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A7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有记忆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"你的后端是 Spring Boot 3 + MyBatis-Plus，数据库 PostgreSQL，用户表 sys_user...我按这个技术栈来写。"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记忆系统架构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749040"/>
            <a:ext cx="33832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4034790"/>
            <a:ext cx="251460" cy="2514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6304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短期记忆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63040" y="4206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0120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当前会话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0120" y="4919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最近5轮对话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0120" y="5266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TTL: 30min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89120" y="3749040"/>
            <a:ext cx="33832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0" y="3931920"/>
            <a:ext cx="457200" cy="45720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4034790"/>
            <a:ext cx="251460" cy="2514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663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长期记忆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166360" y="4206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+ 向量DB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663440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项目技术栈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663440" y="4919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代码规范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663440" y="5266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历史代码片段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092440" y="3749040"/>
            <a:ext cx="33832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275320" y="3931920"/>
            <a:ext cx="457200" cy="457200"/>
          </a:xfrm>
          <a:prstGeom prst="ellipse">
            <a:avLst/>
          </a:prstGeom>
          <a:solidFill>
            <a:srgbClr val="FB8500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190" y="4034790"/>
            <a:ext cx="251460" cy="2514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86968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工作记忆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8869680" y="4206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组装后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366760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当前问题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366760" y="4919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项目上下文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8366760" y="5266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编码规范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数据流：用户提问 → 检索项目上下文(RAG) → 拼接最近对话(Buffer) → 组装Prompt → 调用LLM → 返回回答 → 更新短期记忆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实战场景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场景二：团队知识库问答系统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46304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46304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文档来源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Wiki/GitLab/飞书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1810512"/>
            <a:ext cx="274320" cy="2194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146304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257800" y="1463040"/>
            <a:ext cx="54864" cy="9144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2" name="Text 9"/>
          <p:cNvSpPr/>
          <p:nvPr/>
        </p:nvSpPr>
        <p:spPr>
          <a:xfrm>
            <a:off x="539496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文档解析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切片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1810512"/>
            <a:ext cx="274320" cy="2194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955280" y="146304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955280" y="1463040"/>
            <a:ext cx="54864" cy="91440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6" name="Text 12"/>
          <p:cNvSpPr/>
          <p:nvPr/>
        </p:nvSpPr>
        <p:spPr>
          <a:xfrm>
            <a:off x="809244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1810512"/>
            <a:ext cx="274320" cy="21945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0652760" y="146304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10652760" y="1463040"/>
            <a:ext cx="54864" cy="91440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0" name="Text 15"/>
          <p:cNvSpPr/>
          <p:nvPr/>
        </p:nvSpPr>
        <p:spPr>
          <a:xfrm>
            <a:off x="10789920" y="14630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向量数据库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560320" y="274320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2560320" y="274320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18"/>
          <p:cNvSpPr/>
          <p:nvPr/>
        </p:nvSpPr>
        <p:spPr>
          <a:xfrm>
            <a:off x="269748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用户提问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090672"/>
            <a:ext cx="274320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257800" y="274320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5257800" y="2743200"/>
            <a:ext cx="54864" cy="91440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7" name="Text 21"/>
          <p:cNvSpPr/>
          <p:nvPr/>
        </p:nvSpPr>
        <p:spPr>
          <a:xfrm>
            <a:off x="539496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语义检索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片段</a:t>
            </a:r>
            <a:endParaRPr lang="en-US" sz="11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3090672"/>
            <a:ext cx="274320" cy="219456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955280" y="274320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7955280" y="2743200"/>
            <a:ext cx="54864" cy="9144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1" name="Text 24"/>
          <p:cNvSpPr/>
          <p:nvPr/>
        </p:nvSpPr>
        <p:spPr>
          <a:xfrm>
            <a:off x="809244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拼接上下文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对话历史</a:t>
            </a:r>
            <a:endParaRPr lang="en-US" sz="11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08" y="3090672"/>
            <a:ext cx="274320" cy="219456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10652760" y="2743200"/>
            <a:ext cx="23774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6"/>
          <p:cNvSpPr/>
          <p:nvPr/>
        </p:nvSpPr>
        <p:spPr>
          <a:xfrm>
            <a:off x="10652760" y="2743200"/>
            <a:ext cx="54864" cy="91440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35" name="Text 27"/>
          <p:cNvSpPr/>
          <p:nvPr/>
        </p:nvSpPr>
        <p:spPr>
          <a:xfrm>
            <a:off x="1078992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（带引用来源）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关键设计点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548640" y="4297680"/>
            <a:ext cx="5303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677" y="4593717"/>
            <a:ext cx="276606" cy="27660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417320" y="4407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权限控制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141732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不同角色能检索到的文档范围不同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6309360" y="4297680"/>
            <a:ext cx="5303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6492240" y="448056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5397" y="4593717"/>
            <a:ext cx="276606" cy="276606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178040" y="4407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来源追溯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717804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回答必须标注引用的文档来源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548640" y="5303520"/>
            <a:ext cx="5303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38"/>
          <p:cNvSpPr/>
          <p:nvPr/>
        </p:nvSpPr>
        <p:spPr>
          <a:xfrm>
            <a:off x="731520" y="5486400"/>
            <a:ext cx="502920" cy="502920"/>
          </a:xfrm>
          <a:prstGeom prst="ellipse">
            <a:avLst/>
          </a:prstGeom>
          <a:solidFill>
            <a:srgbClr val="FB8500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677" y="5599557"/>
            <a:ext cx="276606" cy="276606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1417320" y="5413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增量更新</a:t>
            </a:r>
            <a:endParaRPr lang="en-US" sz="1300" dirty="0"/>
          </a:p>
        </p:txBody>
      </p:sp>
      <p:sp>
        <p:nvSpPr>
          <p:cNvPr id="51" name="Text 40"/>
          <p:cNvSpPr/>
          <p:nvPr/>
        </p:nvSpPr>
        <p:spPr>
          <a:xfrm>
            <a:off x="1417320" y="5715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文档变更时只更新对应向量，不全量重建</a:t>
            </a:r>
            <a:endParaRPr lang="en-US" sz="1100" dirty="0"/>
          </a:p>
        </p:txBody>
      </p:sp>
      <p:sp>
        <p:nvSpPr>
          <p:cNvPr id="52" name="Shape 41"/>
          <p:cNvSpPr/>
          <p:nvPr/>
        </p:nvSpPr>
        <p:spPr>
          <a:xfrm>
            <a:off x="6309360" y="5303520"/>
            <a:ext cx="5303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6492240" y="5486400"/>
            <a:ext cx="502920" cy="502920"/>
          </a:xfrm>
          <a:prstGeom prst="ellipse">
            <a:avLst/>
          </a:prstGeom>
          <a:solidFill>
            <a:srgbClr val="06A77D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5397" y="5599557"/>
            <a:ext cx="276606" cy="276606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7178040" y="5413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反馈闭环</a:t>
            </a:r>
            <a:endParaRPr lang="en-US" sz="1300" dirty="0"/>
          </a:p>
        </p:txBody>
      </p:sp>
      <p:sp>
        <p:nvSpPr>
          <p:cNvPr id="56" name="Text 44"/>
          <p:cNvSpPr/>
          <p:nvPr/>
        </p:nvSpPr>
        <p:spPr>
          <a:xfrm>
            <a:off x="7178040" y="5715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用户标记"有用/无用"，优化检索质量</a:t>
            </a:r>
            <a:endParaRPr lang="en-US" sz="1100" dirty="0"/>
          </a:p>
        </p:txBody>
      </p:sp>
      <p:sp>
        <p:nvSpPr>
          <p:cNvPr id="57" name="Text 4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实战场景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在你的项目里如何落地：从 0 到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2011680"/>
            <a:ext cx="2084832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011680"/>
            <a:ext cx="2084832" cy="73152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7" name="Shape 5"/>
          <p:cNvSpPr/>
          <p:nvPr/>
        </p:nvSpPr>
        <p:spPr>
          <a:xfrm>
            <a:off x="1362456" y="2240280"/>
            <a:ext cx="548640" cy="548640"/>
          </a:xfrm>
          <a:prstGeom prst="ellipse">
            <a:avLst/>
          </a:prstGeom>
          <a:solidFill>
            <a:srgbClr val="6C757D"/>
          </a:solidFill>
          <a:ln/>
        </p:spPr>
      </p:sp>
      <p:sp>
        <p:nvSpPr>
          <p:cNvPr id="8" name="Text 6"/>
          <p:cNvSpPr/>
          <p:nvPr/>
        </p:nvSpPr>
        <p:spPr>
          <a:xfrm>
            <a:off x="136245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直接用大模型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一次性任务、单轮问答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4160520"/>
            <a:ext cx="1901952" cy="59436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1605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Claude / 国内大模型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0904" y="3364992"/>
            <a:ext cx="182880" cy="21945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816352" y="1874520"/>
            <a:ext cx="2084832" cy="3063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816352" y="1874520"/>
            <a:ext cx="208483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Shape 13"/>
          <p:cNvSpPr/>
          <p:nvPr/>
        </p:nvSpPr>
        <p:spPr>
          <a:xfrm>
            <a:off x="3584448" y="21031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358444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907792" y="27889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加对话记忆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953512" y="32918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多轮对话场景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907792" y="4160520"/>
            <a:ext cx="1901952" cy="59436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21" name="Text 18"/>
          <p:cNvSpPr/>
          <p:nvPr/>
        </p:nvSpPr>
        <p:spPr>
          <a:xfrm>
            <a:off x="2953512" y="41605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Redis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3296412"/>
            <a:ext cx="182880" cy="2194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038344" y="1737360"/>
            <a:ext cx="208483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38344" y="1737360"/>
            <a:ext cx="2084832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5" name="Shape 21"/>
          <p:cNvSpPr/>
          <p:nvPr/>
        </p:nvSpPr>
        <p:spPr>
          <a:xfrm>
            <a:off x="5806440" y="1965960"/>
            <a:ext cx="548640" cy="54864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26" name="Text 22"/>
          <p:cNvSpPr/>
          <p:nvPr/>
        </p:nvSpPr>
        <p:spPr>
          <a:xfrm>
            <a:off x="58064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129784" y="26517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加知识检索 (RAG)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175504" y="31546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基于团队文档回答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129784" y="4160520"/>
            <a:ext cx="1901952" cy="59436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0" name="Text 26"/>
          <p:cNvSpPr/>
          <p:nvPr/>
        </p:nvSpPr>
        <p:spPr>
          <a:xfrm>
            <a:off x="5175504" y="41605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Chroma/FAISS</a:t>
            </a:r>
            <a:endParaRPr lang="en-US" sz="9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227832"/>
            <a:ext cx="182880" cy="219456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7260336" y="1600200"/>
            <a:ext cx="2084832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7260336" y="1600200"/>
            <a:ext cx="2084832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34" name="Shape 29"/>
          <p:cNvSpPr/>
          <p:nvPr/>
        </p:nvSpPr>
        <p:spPr>
          <a:xfrm>
            <a:off x="8028432" y="1828800"/>
            <a:ext cx="548640" cy="548640"/>
          </a:xfrm>
          <a:prstGeom prst="ellipse">
            <a:avLst/>
          </a:prstGeom>
          <a:solidFill>
            <a:srgbClr val="FB8500"/>
          </a:solidFill>
          <a:ln/>
        </p:spPr>
      </p:sp>
      <p:sp>
        <p:nvSpPr>
          <p:cNvPr id="35" name="Text 30"/>
          <p:cNvSpPr/>
          <p:nvPr/>
        </p:nvSpPr>
        <p:spPr>
          <a:xfrm>
            <a:off x="802843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7351776" y="25146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加用户画像 + 实体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7397496" y="30175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个性化、长期用户关系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351776" y="4160520"/>
            <a:ext cx="1901952" cy="59436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39" name="Text 34"/>
          <p:cNvSpPr/>
          <p:nvPr/>
        </p:nvSpPr>
        <p:spPr>
          <a:xfrm>
            <a:off x="7397496" y="41605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EntityMemory + 关系DB</a:t>
            </a:r>
            <a:endParaRPr lang="en-US" sz="9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3159252"/>
            <a:ext cx="182880" cy="219456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9482328" y="1463040"/>
            <a:ext cx="2084832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482328" y="1463040"/>
            <a:ext cx="2084832" cy="73152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43" name="Shape 37"/>
          <p:cNvSpPr/>
          <p:nvPr/>
        </p:nvSpPr>
        <p:spPr>
          <a:xfrm>
            <a:off x="10250424" y="1691640"/>
            <a:ext cx="548640" cy="548640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44" name="Text 38"/>
          <p:cNvSpPr/>
          <p:nvPr/>
        </p:nvSpPr>
        <p:spPr>
          <a:xfrm>
            <a:off x="1025042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9573768" y="23774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+ 多记忆协同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9619488" y="28803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复杂自主任务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9573768" y="4160520"/>
            <a:ext cx="1901952" cy="59436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48" name="Text 42"/>
          <p:cNvSpPr/>
          <p:nvPr/>
        </p:nvSpPr>
        <p:spPr>
          <a:xfrm>
            <a:off x="9619488" y="416052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/ AutoGen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50" name="Text 44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建议：</a:t>
            </a:r>
            <a:pPr algn="ctr"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L1 开始（成本极低，体验提升大）→ L2 RAG 性价比最高 → 按需演进，不要一上来搞 L4</a:t>
            </a:r>
            <a:endParaRPr lang="en-US" sz="1300" dirty="0"/>
          </a:p>
        </p:txBody>
      </p:sp>
      <p:sp>
        <p:nvSpPr>
          <p:cNvPr id="51" name="Text 4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B850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731520"/>
            <a:ext cx="1371600" cy="1371600"/>
          </a:xfrm>
          <a:prstGeom prst="ellipse">
            <a:avLst/>
          </a:prstGeom>
          <a:solidFill>
            <a:srgbClr val="FB85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3570" y="1040130"/>
            <a:ext cx="754380" cy="754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互动问题 ①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371600" y="2834640"/>
            <a:ext cx="9418320" cy="2286000"/>
          </a:xfrm>
          <a:prstGeom prst="rect">
            <a:avLst/>
          </a:prstGeom>
          <a:solidFill>
            <a:srgbClr val="1B26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645920" y="3017520"/>
            <a:ext cx="8869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你设计了一个 AI 客服系统，上线后发现：
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"用户聊到第 30 轮时，AI 开始出现'幻觉'——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把前面说过的事实搞混了，甚至编造了用户没说过的信息。"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请分析可能的原因，并给出你的解决方案。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思考 30 秒，欢迎分享你的想法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互动与总结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互动问题 ① 参考分析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原因分析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4864" cy="91440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上下文窗口溢出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轮对话达数万 tokens，早期内容被截断，AI 编造而非说"忘了"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788920"/>
            <a:ext cx="54864" cy="91440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注意力稀释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 — 超长上下文中中间内容被忽略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94760"/>
            <a:ext cx="54864" cy="91440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缺乏结构化记忆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关键信息没提取存储，每次从原始对话找，容易出错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A7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783080"/>
            <a:ext cx="5303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783080"/>
            <a:ext cx="54864" cy="548640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92024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引入摘要记忆：每 10 轮自动生成摘要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09360" y="2404872"/>
            <a:ext cx="5303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309360" y="2404872"/>
            <a:ext cx="54864" cy="548640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542032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858000" y="2404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引入实体记忆：提取关键事实结构化存储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309360" y="3026664"/>
            <a:ext cx="5303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309360" y="3026664"/>
            <a:ext cx="54864" cy="548640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163824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58000" y="30266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滑动窗口：最近 5 轮原文 + 摘要 + 实体表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309360" y="3648456"/>
            <a:ext cx="5303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309360" y="3648456"/>
            <a:ext cx="54864" cy="548640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785616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858000" y="36484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关键事实回灌：实体表注入 system prompt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309360" y="4270248"/>
            <a:ext cx="5303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309360" y="4270248"/>
            <a:ext cx="54864" cy="548640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407408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858000" y="42702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幻觉检测：对关键事实做一致性校验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73152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修复后的 Prompt 结构：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731520" y="54406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</a:t>
            </a:r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客服AI。用户关键信息 → 姓名：张三 | 订单号：ORD-2025-001 | 问题：退款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[摘要] </a:t>
            </a:r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用户咨询了退款流程，已提供退货地址...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[最近3轮] </a:t>
            </a:r>
            <a:pPr indent="0" marL="0">
              <a:buNone/>
            </a:pPr>
            <a:r>
              <a:rPr lang="en-US" sz="1000" dirty="0">
                <a:solidFill>
                  <a:srgbClr val="E0E1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→ User: 那大概多久能到账？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互动与总结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互动问题 ② 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00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0077B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71335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互动问题 ②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系统中，用户问"他昨天说的那个方案到底行不行？"，AI 回答完全跑偏。请分析原因。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108960"/>
            <a:ext cx="4937760" cy="27432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参考分析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5661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指代消解失败："他"指谁？"那个方案"是哪个？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需要在检索前做 Query 改写，补全上下文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时间语义丢失：向量检索主要匹配语义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"昨天"需额外元数据过滤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解决方案：Query Rewriting + 元数据过滤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1371600"/>
            <a:ext cx="530352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1371600"/>
            <a:ext cx="5303520" cy="73152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0" y="1600200"/>
            <a:ext cx="502920" cy="502920"/>
          </a:xfrm>
          <a:prstGeom prst="ellipse">
            <a:avLst/>
          </a:prstGeom>
          <a:solidFill>
            <a:srgbClr val="FB850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837" y="1713357"/>
            <a:ext cx="276606" cy="27660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2376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互动问题 ③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22376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（开放讨论）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58368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如果你要给团队设计一个"记住每个开发者编码习惯"的 AI 代码助手，你会设计哪些记忆维度？用什么技术方案？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583680" y="3108960"/>
            <a:ext cx="4754880" cy="27432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22" name="Text 18"/>
          <p:cNvSpPr/>
          <p:nvPr/>
        </p:nvSpPr>
        <p:spPr>
          <a:xfrm>
            <a:off x="658368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讨论方向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583680" y="35661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编码风格：命名规范、注释习惯、代码结构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项目上下文：技术栈、依赖版本、架构约定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错误模式：常犯 bug 类型，用于主动提醒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技术方案：实体记忆 + RAG + 用户画像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互动与总结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最佳实践与避坑指南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731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A7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最佳实践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4864" cy="566928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93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7830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记忆分层：短期(Redis) + 摘要(LLM) + 长期(向量DB)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441448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441448"/>
            <a:ext cx="54864" cy="566928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8775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4414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实体提取：从对话中提取结构化事实，单独存储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099816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099816"/>
            <a:ext cx="54864" cy="566928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4612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0998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改写：检索前补全指代和上下文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758184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3758184"/>
            <a:ext cx="54864" cy="566928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0448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7581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来源追溯：每个记忆片段标注来源和时间戳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48640" y="4416552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48640" y="4416552"/>
            <a:ext cx="54864" cy="566928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6285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97280" y="44165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增量更新：避免全量重建索引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5074920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48640" y="5074920"/>
            <a:ext cx="54864" cy="566928"/>
          </a:xfrm>
          <a:prstGeom prst="rect">
            <a:avLst/>
          </a:prstGeom>
          <a:solidFill>
            <a:srgbClr val="06A77D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22122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97280" y="50749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重要性评分：不是所有对话都值得记住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30936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常见坑点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6309360" y="1783080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309360" y="1783080"/>
            <a:ext cx="54864" cy="566928"/>
          </a:xfrm>
          <a:prstGeom prst="rect">
            <a:avLst/>
          </a:prstGeom>
          <a:solidFill>
            <a:srgbClr val="D6282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1929384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58000" y="17830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全量对话拼入 prompt</a:t>
            </a:r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 + 滑动窗口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309360" y="2441448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309360" y="2441448"/>
            <a:ext cx="54864" cy="566928"/>
          </a:xfrm>
          <a:prstGeom prst="rect">
            <a:avLst/>
          </a:prstGeom>
          <a:solidFill>
            <a:srgbClr val="D62828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2587752"/>
            <a:ext cx="256032" cy="256032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858000" y="24414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向量检索不加元数据过滤</a:t>
            </a:r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6309360" y="3099816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6309360" y="3099816"/>
            <a:ext cx="54864" cy="566928"/>
          </a:xfrm>
          <a:prstGeom prst="rect">
            <a:avLst/>
          </a:prstGeom>
          <a:solidFill>
            <a:srgbClr val="D62828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246120"/>
            <a:ext cx="256032" cy="25603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858000" y="30998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切片太大或太小</a:t>
            </a:r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200-500 tokens + overlap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>
            <a:off x="6309360" y="3758184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6309360" y="3758184"/>
            <a:ext cx="54864" cy="566928"/>
          </a:xfrm>
          <a:prstGeom prst="rect">
            <a:avLst/>
          </a:prstGeom>
          <a:solidFill>
            <a:srgbClr val="D62828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3904488"/>
            <a:ext cx="256032" cy="256032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858000" y="37581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没有遗忘机制</a:t>
            </a:r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+ LRU + 评分淘汰</a:t>
            </a:r>
            <a:endParaRPr lang="en-US" sz="1100" dirty="0"/>
          </a:p>
        </p:txBody>
      </p:sp>
      <p:sp>
        <p:nvSpPr>
          <p:cNvPr id="47" name="Shape 35"/>
          <p:cNvSpPr/>
          <p:nvPr/>
        </p:nvSpPr>
        <p:spPr>
          <a:xfrm>
            <a:off x="6309360" y="4416552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36"/>
          <p:cNvSpPr/>
          <p:nvPr/>
        </p:nvSpPr>
        <p:spPr>
          <a:xfrm>
            <a:off x="6309360" y="4416552"/>
            <a:ext cx="54864" cy="566928"/>
          </a:xfrm>
          <a:prstGeom prst="rect">
            <a:avLst/>
          </a:prstGeom>
          <a:solidFill>
            <a:srgbClr val="D62828"/>
          </a:solidFill>
          <a:ln/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4562856"/>
            <a:ext cx="256032" cy="256032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6858000" y="441655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模型不匹配</a:t>
            </a:r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中文用 BGE，英文用 OpenAI</a:t>
            </a:r>
            <a:endParaRPr lang="en-US" sz="1100" dirty="0"/>
          </a:p>
        </p:txBody>
      </p:sp>
      <p:sp>
        <p:nvSpPr>
          <p:cNvPr id="51" name="Shape 38"/>
          <p:cNvSpPr/>
          <p:nvPr/>
        </p:nvSpPr>
        <p:spPr>
          <a:xfrm>
            <a:off x="6309360" y="5074920"/>
            <a:ext cx="5303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39"/>
          <p:cNvSpPr/>
          <p:nvPr/>
        </p:nvSpPr>
        <p:spPr>
          <a:xfrm>
            <a:off x="6309360" y="5074920"/>
            <a:ext cx="54864" cy="566928"/>
          </a:xfrm>
          <a:prstGeom prst="rect">
            <a:avLst/>
          </a:prstGeom>
          <a:solidFill>
            <a:srgbClr val="D62828"/>
          </a:solidFill>
          <a:ln/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5221224"/>
            <a:ext cx="256032" cy="256032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858000" y="50749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忽视安全问题</a:t>
            </a:r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1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脱敏 + 权限分级 + 审计</a:t>
            </a:r>
            <a:endParaRPr lang="en-US" sz="1100" dirty="0"/>
          </a:p>
        </p:txBody>
      </p:sp>
      <p:sp>
        <p:nvSpPr>
          <p:cNvPr id="55" name="Shape 41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Text 42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安全红线：</a:t>
            </a:r>
            <a:pPr algn="ctr" indent="0" marL="0">
              <a:buNone/>
            </a:pPr>
            <a:r>
              <a:rPr lang="en-US" sz="12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记忆系统存储了用户敏感信息，必须做脱敏 + 权限分级 + 审计日志，不同用户记忆不能串</a:t>
            </a:r>
            <a:endParaRPr lang="en-US" sz="1200" dirty="0"/>
          </a:p>
        </p:txBody>
      </p:sp>
      <p:sp>
        <p:nvSpPr>
          <p:cNvPr id="57" name="Text 43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大模型记忆系统 Memory</a:t>
            </a:r>
            <a:endParaRPr lang="en-US" sz="900" dirty="0"/>
          </a:p>
        </p:txBody>
      </p:sp>
      <p:sp>
        <p:nvSpPr>
          <p:cNvPr id="58" name="Text 44"/>
          <p:cNvSpPr/>
          <p:nvPr/>
        </p:nvSpPr>
        <p:spPr>
          <a:xfrm>
            <a:off x="110642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743200"/>
            <a:ext cx="5486400" cy="5486400"/>
          </a:xfrm>
          <a:prstGeom prst="ellipse">
            <a:avLst/>
          </a:prstGeom>
          <a:solidFill>
            <a:srgbClr val="FB850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一句话总结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solidFill>
            <a:srgbClr val="1B26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大模型记忆系统 = 给无状态的 AI 函数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加上分层的、可检索的、会遗忘的外部状态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核心要点回顾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69748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本质：大模型是无状态函数，记忆系统是外部状态管理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15468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分类：短期 → 长期 → 工作记忆（检索组装）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61188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方案：Buffer → Summary → RAG → 实体记忆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406908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生命周期：写入 → 检索 → 更新 → 遗忘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452628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落地：从 L1 对话记忆开始，按需演进到 RAG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B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推荐进一步学习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349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Memory 文档  ·  RAG 论文 (Lewis 2020)  ·  MemGPT (Packer 2023)  ·  Generative Agents (Park 2023)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94760" y="5852160"/>
            <a:ext cx="4572000" cy="64008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5852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🙋  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大模型记忆系统 Memory</dc:title>
  <dc:subject>PptxGenJS Presentation</dc:subject>
  <dc:creator>技术分享</dc:creator>
  <cp:lastModifiedBy>技术分享</cp:lastModifiedBy>
  <cp:revision>1</cp:revision>
  <dcterms:created xsi:type="dcterms:W3CDTF">2026-07-05T16:34:36Z</dcterms:created>
  <dcterms:modified xsi:type="dcterms:W3CDTF">2026-07-05T16:34:36Z</dcterms:modified>
</cp:coreProperties>
</file>