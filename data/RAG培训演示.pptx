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32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1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不能带资料 = 纯大模型（记不住就编）。</a:t>
            </a:r>
            <a:endParaRPr lang="en-US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  <a:p>
            <a:r>
              <a:rPr lang="en-US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允许带私人图书馆 = RAG（先翻书找答案，再基于内容回答）。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传统搜索就像 PDF 里按 Ctrl+F 搜"苹果"只会高亮这两个字。</a:t>
            </a:r>
            <a:endParaRPr lang="en-US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语义搜索能理解"苹果"和"iPhone"之间存在关联。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MySQL 像通讯录（精确查找），向量数据库像音乐推荐（风格相似度匹配）。</a:t>
            </a:r>
            <a:endParaRPr lang="en-US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2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5.png"/><Relationship Id="rId20" Type="http://schemas.openxmlformats.org/officeDocument/2006/relationships/tags" Target="../tags/tag15.xml"/><Relationship Id="rId2" Type="http://schemas.openxmlformats.org/officeDocument/2006/relationships/image" Target="../media/image11.svg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image" Target="../media/image14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13.png"/><Relationship Id="rId10" Type="http://schemas.openxmlformats.org/officeDocument/2006/relationships/tags" Target="../tags/tag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perplexity.ai/" TargetMode="External"/><Relationship Id="rId8" Type="http://schemas.openxmlformats.org/officeDocument/2006/relationships/hyperlink" Target="https://www.chatpdf.com/" TargetMode="External"/><Relationship Id="rId7" Type="http://schemas.openxmlformats.org/officeDocument/2006/relationships/hyperlink" Target="https://app.pinecone.io/" TargetMode="External"/><Relationship Id="rId6" Type="http://schemas.openxmlformats.org/officeDocument/2006/relationships/hyperlink" Target="https://console.weaviate.cloud/" TargetMode="External"/><Relationship Id="rId5" Type="http://schemas.openxmlformats.org/officeDocument/2006/relationships/hyperlink" Target="https://www.trychroma.com/" TargetMode="External"/><Relationship Id="rId4" Type="http://schemas.openxmlformats.org/officeDocument/2006/relationships/hyperlink" Target="https://pinecone.io/learn/" TargetMode="External"/><Relationship Id="rId3" Type="http://schemas.openxmlformats.org/officeDocument/2006/relationships/hyperlink" Target="https://dashboard.cohere.com/playground" TargetMode="External"/><Relationship Id="rId2" Type="http://schemas.openxmlformats.org/officeDocument/2006/relationships/hyperlink" Target="https://jina.ai/embeddings/" TargetMode="Externa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.xml"/><Relationship Id="rId12" Type="http://schemas.openxmlformats.org/officeDocument/2006/relationships/hyperlink" Target="https://yasgui.org/" TargetMode="External"/><Relationship Id="rId11" Type="http://schemas.openxmlformats.org/officeDocument/2006/relationships/hyperlink" Target="https://neo4j.com/cloud/aura/" TargetMode="External"/><Relationship Id="rId10" Type="http://schemas.openxmlformats.org/officeDocument/2006/relationships/hyperlink" Target="https://cloud.dify.ai/" TargetMode="External"/><Relationship Id="rId1" Type="http://schemas.openxmlformats.org/officeDocument/2006/relationships/hyperlink" Target="https://projector.tensorflow.org/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pic>
        <p:nvPicPr>
          <p:cNvPr id="3" name="Image 0" descr="C:\Users\Lenovo\WorkBuddy\20260321152241\ppt_images\title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274320"/>
            <a:ext cx="640080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9319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</a:t>
            </a:r>
            <a:r>
              <a:rPr lang="zh-CN" altLang="en-US" sz="2800" b="1" dirty="0">
                <a:solidFill>
                  <a:srgbClr val="E2E8F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-120"/>
              </a:rPr>
              <a:t>与</a:t>
            </a:r>
            <a:r>
              <a:rPr lang="en-US" sz="28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向量数据库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入门培训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今日议程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课程内容与时间安排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开场引入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是什么？解决什么问题？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1691640"/>
            <a:ext cx="7406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7373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语义搜索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17373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 原理、关键词 vs 语义搜索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2194560"/>
            <a:ext cx="7406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402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240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向量数据库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224028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核心概念、相似度计算、产品选型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2697480"/>
            <a:ext cx="7406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432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27432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全流程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17520" y="274320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完整流程拆解、优化策略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88720" y="3200400"/>
            <a:ext cx="7406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4612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32461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GraphRAG 进阶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17520" y="32461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知识图谱、关系推理、对比分析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88720" y="3703320"/>
            <a:ext cx="7406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490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88720" y="37490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017520" y="37490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企业知识库、法律/医疗、Demo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88720" y="4206240"/>
            <a:ext cx="74066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519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88720" y="42519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 Q&amp;A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017520" y="42519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技术演进路线、学习资源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什么是 RAG？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Retrieval-Augmented Generation（检索增强生成）</a:t>
            </a:r>
            <a:endParaRPr lang="en-US" sz="1300" dirty="0"/>
          </a:p>
        </p:txBody>
      </p:sp>
      <p:pic>
        <p:nvPicPr>
          <p:cNvPr id="7" name="Image 0" descr="C:\Users\Lenovo\WorkBuddy\20260321152241\ppt_images\rag_concept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952" t="10420" r="18022" b="14239"/>
          <a:stretch>
            <a:fillRect/>
          </a:stretch>
        </p:blipFill>
        <p:spPr>
          <a:xfrm>
            <a:off x="4679315" y="2049145"/>
            <a:ext cx="3839845" cy="229298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的核心思想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155448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给大模型配备一个"可检索的知识库"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大模型的两大硬伤：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幻觉（Hallucination） — 一本正经地胡说八道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知识过期 — 训练数据有截止日期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79315" y="860425"/>
            <a:ext cx="3840480" cy="118872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12" name="Shape 9"/>
          <p:cNvSpPr/>
          <p:nvPr/>
        </p:nvSpPr>
        <p:spPr>
          <a:xfrm>
            <a:off x="4679315" y="860425"/>
            <a:ext cx="54864" cy="118872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475" y="951865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6515" y="906145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想象你参加一场开卷考试。</a:t>
            </a:r>
            <a:endParaRPr lang="en-US" sz="1100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endParaRPr lang="en-US" sz="1100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不能带资料</a:t>
            </a:r>
            <a:endParaRPr lang="en-US" sz="1100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endParaRPr lang="en-US" sz="1100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允许带私人图书馆 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传统搜索 vs 语义搜索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 Ctrl+F 到理解"你想表达什么"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840480" cy="146304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80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传统关键词搜索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你说什么，我找什么（字面匹配）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搜"手机没电了" → 找不到"电量耗尽"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2801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语义搜索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0" y="16916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你想表达什么，我找什么（意思匹配）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搜"苹果" → 能理解 iPhone、The Big Apple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43400" y="1623060"/>
            <a:ext cx="457200" cy="457200"/>
          </a:xfrm>
          <a:prstGeom prst="ellipse">
            <a:avLst/>
          </a:prstGeom>
          <a:solidFill>
            <a:srgbClr val="334155"/>
          </a:solidFill>
        </p:spPr>
      </p:sp>
      <p:sp>
        <p:nvSpPr>
          <p:cNvPr id="16" name="Text 12"/>
          <p:cNvSpPr/>
          <p:nvPr/>
        </p:nvSpPr>
        <p:spPr>
          <a:xfrm>
            <a:off x="4343400" y="16230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18" name="Shape 14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971800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PDF 里按 Ctrl+F 搜"苹果"</a:t>
            </a:r>
            <a:endParaRPr lang="en-US" sz="11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Embedding：把文字变成坐标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意思越接近的词，在地图上离得越近</a:t>
            </a:r>
            <a:endParaRPr lang="en-US" sz="1300" dirty="0"/>
          </a:p>
        </p:txBody>
      </p:sp>
      <p:pic>
        <p:nvPicPr>
          <p:cNvPr id="7" name="Image 0" descr="C:\Users\Lenovo\WorkBuddy\20260321152241\ppt_images\semantic_search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480" y="1097280"/>
            <a:ext cx="502920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097280"/>
            <a:ext cx="3200400" cy="228600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188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 模型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155448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把文本变成一组数字（向量）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"狗"和"猫"是邻居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"狗"和"汽车"隔了十万八千里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"程序员"和"咖啡"可能在隔壁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（懂的都懂）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3566160"/>
            <a:ext cx="3200400" cy="91440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13" name="Shape 9"/>
          <p:cNvSpPr/>
          <p:nvPr/>
        </p:nvSpPr>
        <p:spPr>
          <a:xfrm>
            <a:off x="365760" y="3566160"/>
            <a:ext cx="54864" cy="91440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36118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 模型就是"地图测绘局"：它读完一段文字后告诉你"这段话的坐标是 (0.23, -1.05, 0.87, ...)"——768 到 1536 个维度。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向量数据库是什么？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不只是存数据，更要快速找到"最像的"</a:t>
            </a:r>
            <a:endParaRPr lang="en-US" sz="1300" dirty="0"/>
          </a:p>
        </p:txBody>
      </p:sp>
      <p:pic>
        <p:nvPicPr>
          <p:cNvPr id="7" name="Image 0" descr="C:\Users\Lenovo\WorkBuddy\20260321152241\ppt_images\vector_db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139" t="12282" r="2762" b="13413"/>
          <a:stretch>
            <a:fillRect/>
          </a:stretch>
        </p:blipFill>
        <p:spPr>
          <a:xfrm>
            <a:off x="274320" y="1143000"/>
            <a:ext cx="4321810" cy="2416810"/>
          </a:xfrm>
          <a:prstGeom prst="rect">
            <a:avLst/>
          </a:prstGeom>
        </p:spPr>
      </p:pic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4737100" y="916305"/>
            <a:ext cx="4114800" cy="105156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19980" y="1007745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5331460" y="98945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向量与维度</a:t>
            </a:r>
            <a:endParaRPr lang="en-US" sz="1400" dirty="0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5331460" y="1263777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256 ~ 1536 维</a:t>
            </a:r>
            <a:endParaRPr lang="en-US" sz="1100" dirty="0"/>
          </a:p>
        </p:txBody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5331460" y="153809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维度越高，语义信息越丰富</a:t>
            </a:r>
            <a:endParaRPr lang="en-US" sz="1000" dirty="0"/>
          </a:p>
        </p:txBody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4737100" y="2105025"/>
            <a:ext cx="4114800" cy="105156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919980" y="2196465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>
            <p:custDataLst>
              <p:tags r:id="rId12"/>
            </p:custDataLst>
          </p:nvPr>
        </p:nvSpPr>
        <p:spPr>
          <a:xfrm>
            <a:off x="5331460" y="217817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相似度计算</a:t>
            </a:r>
            <a:endParaRPr lang="en-US" sz="1400" dirty="0"/>
          </a:p>
        </p:txBody>
      </p:sp>
      <p:sp>
        <p:nvSpPr>
          <p:cNvPr id="16" name="Text 11"/>
          <p:cNvSpPr/>
          <p:nvPr>
            <p:custDataLst>
              <p:tags r:id="rId13"/>
            </p:custDataLst>
          </p:nvPr>
        </p:nvSpPr>
        <p:spPr>
          <a:xfrm>
            <a:off x="5331460" y="2452497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余弦相似度 / 欧氏距离</a:t>
            </a:r>
            <a:endParaRPr lang="en-US" sz="1100" dirty="0"/>
          </a:p>
        </p:txBody>
      </p:sp>
      <p:sp>
        <p:nvSpPr>
          <p:cNvPr id="17" name="Text 12"/>
          <p:cNvSpPr/>
          <p:nvPr>
            <p:custDataLst>
              <p:tags r:id="rId14"/>
            </p:custDataLst>
          </p:nvPr>
        </p:nvSpPr>
        <p:spPr>
          <a:xfrm>
            <a:off x="5331460" y="272681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方向一致 &gt; 直线距离</a:t>
            </a:r>
            <a:endParaRPr lang="en-US" sz="1000" dirty="0"/>
          </a:p>
        </p:txBody>
      </p:sp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4737100" y="3293745"/>
            <a:ext cx="4114800" cy="105156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919980" y="3385185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>
            <p:custDataLst>
              <p:tags r:id="rId18"/>
            </p:custDataLst>
          </p:nvPr>
        </p:nvSpPr>
        <p:spPr>
          <a:xfrm>
            <a:off x="5331460" y="336689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索引机制</a:t>
            </a:r>
            <a:endParaRPr lang="en-US" sz="1400" dirty="0"/>
          </a:p>
        </p:txBody>
      </p:sp>
      <p:sp>
        <p:nvSpPr>
          <p:cNvPr id="21" name="Text 15"/>
          <p:cNvSpPr/>
          <p:nvPr>
            <p:custDataLst>
              <p:tags r:id="rId19"/>
            </p:custDataLst>
          </p:nvPr>
        </p:nvSpPr>
        <p:spPr>
          <a:xfrm>
            <a:off x="5331460" y="3641217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HNSW / IVF 算法</a:t>
            </a:r>
            <a:endParaRPr lang="en-US" sz="1100" dirty="0"/>
          </a:p>
        </p:txBody>
      </p:sp>
      <p:sp>
        <p:nvSpPr>
          <p:cNvPr id="22" name="Text 16"/>
          <p:cNvSpPr/>
          <p:nvPr>
            <p:custDataLst>
              <p:tags r:id="rId20"/>
            </p:custDataLst>
          </p:nvPr>
        </p:nvSpPr>
        <p:spPr>
          <a:xfrm>
            <a:off x="5331460" y="391553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牺牲一点精度换百倍速度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74320" y="3732530"/>
            <a:ext cx="4321810" cy="86360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24" name="Shape 18"/>
          <p:cNvSpPr/>
          <p:nvPr/>
        </p:nvSpPr>
        <p:spPr>
          <a:xfrm>
            <a:off x="274320" y="3732530"/>
            <a:ext cx="76200" cy="86360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" y="3912870"/>
            <a:ext cx="228600" cy="2317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" y="3778250"/>
            <a:ext cx="3716655" cy="739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 像通讯录，向量数据库像音乐推荐。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向量数据库产品选型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选数据库就像选交通工具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965960" cy="29260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141732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087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10312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Chroma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24231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共享单车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74320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880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轻量级、Python 友好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分钟上手，适合原型开发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14600" y="1234440"/>
            <a:ext cx="1965960" cy="29260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41732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087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210312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Milvus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514600" y="24231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重型卡车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2788920" y="274320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14600" y="2880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开源、功能全面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606040" y="3246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适合大规模生产环境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63440" y="1234440"/>
            <a:ext cx="1965960" cy="29260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349240" y="141732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087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63440" y="210312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Pinecone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663440" y="24231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打车服务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937760" y="274320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663440" y="2880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全托管云服务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754880" y="3246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开箱即用，不想运维的首选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812280" y="1234440"/>
            <a:ext cx="1965960" cy="29260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498080" y="141732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50876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812280" y="210312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Weaviate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6812280" y="242316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多功能车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086600" y="274320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812280" y="288036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内置 Embedding 集成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903720" y="3246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开源，模型生态丰富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完整工作流程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从文档到答案的六步链路</a:t>
            </a:r>
            <a:endParaRPr lang="en-US" sz="1300" dirty="0"/>
          </a:p>
        </p:txBody>
      </p:sp>
      <p:pic>
        <p:nvPicPr>
          <p:cNvPr id="7" name="Image 0" descr="C:\Users\Lenovo\WorkBuddy\20260321152241\ppt_images\rag_pipeline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529"/>
          <a:stretch>
            <a:fillRect/>
          </a:stretch>
        </p:blipFill>
        <p:spPr>
          <a:xfrm>
            <a:off x="274320" y="1089660"/>
            <a:ext cx="8595360" cy="389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关键步骤详解（上）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文档准备、分块与向量化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16459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2801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文档准备：清洗与预处理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6916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去除噪音：广告、导航栏、页眉页脚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格式统一：PDF / Word / 网页 → 纯文本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68580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13" name="Shape 11"/>
          <p:cNvSpPr/>
          <p:nvPr/>
        </p:nvSpPr>
        <p:spPr>
          <a:xfrm>
            <a:off x="365760" y="2971800"/>
            <a:ext cx="54864" cy="68580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6324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301752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做菜前的备菜：洗好、去皮、切好。把 HTML 标签、广告、版权声明这些"泥土"去掉，只留有用的"菜"。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37760" y="1280160"/>
            <a:ext cx="365760" cy="36576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18" name="Text 15"/>
          <p:cNvSpPr/>
          <p:nvPr/>
        </p:nvSpPr>
        <p:spPr>
          <a:xfrm>
            <a:off x="493776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12801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文档分块（Chunking）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为什么分块：模型有 Token 上限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策略：固定长度 / 按段落 / 语义分块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推荐：300-500 tokens，前后少量重叠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2971800"/>
            <a:ext cx="4114800" cy="68580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22" name="Shape 19"/>
          <p:cNvSpPr/>
          <p:nvPr/>
        </p:nvSpPr>
        <p:spPr>
          <a:xfrm>
            <a:off x="4754880" y="2971800"/>
            <a:ext cx="54864" cy="68580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063240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12080" y="301752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自助餐的盘子大小：盘子太大（chunk 太长）→ 混了海鲜和甜点，不精准；太小 → 来回跑 50 趟，上下文碎片化。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65760" y="3840480"/>
            <a:ext cx="4114800" cy="10972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2E1065"/>
          </a:solidFill>
        </p:spPr>
      </p:sp>
      <p:sp>
        <p:nvSpPr>
          <p:cNvPr id="27" name="Text 23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51560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向量化（Embedding）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051560" y="42976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给每段文字生成一个"语义索书号"，让意思相近的段落排在相邻的书架上。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关键步骤详解（下）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检索与生成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11887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2801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存储到向量数据库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691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将向量 + 原始文本写入数据库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建立索引以支持高效检索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11887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280160"/>
            <a:ext cx="365760" cy="365760"/>
          </a:xfrm>
          <a:prstGeom prst="ellipse">
            <a:avLst/>
          </a:prstGeom>
          <a:solidFill>
            <a:srgbClr val="2E1065"/>
          </a:solidFill>
        </p:spPr>
      </p:sp>
      <p:sp>
        <p:nvSpPr>
          <p:cNvPr id="14" name="Text 12"/>
          <p:cNvSpPr/>
          <p:nvPr/>
        </p:nvSpPr>
        <p:spPr>
          <a:xfrm>
            <a:off x="493776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2801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检索（Retrieval）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1691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用户提问 → 向量化 → 相似度搜索 → Top-K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8503920" cy="10972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2E1065"/>
          </a:solidFill>
        </p:spPr>
      </p:sp>
      <p:sp>
        <p:nvSpPr>
          <p:cNvPr id="19" name="Text 17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697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生成（Generation）— 将检索结果作为上下文喂给大模型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10896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Prompt = "基于以下资料回答问题：{检索到的片段} \n\n 问题：{用户提问}"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8503920" cy="77724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23" name="Shape 21"/>
          <p:cNvSpPr/>
          <p:nvPr/>
        </p:nvSpPr>
        <p:spPr>
          <a:xfrm>
            <a:off x="365760" y="3886200"/>
            <a:ext cx="54864" cy="77724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7764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3931920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律师的助理：接到案件 → 提炼关键要素 → 在案例库里找到最相关的 5 个先例 → 把摘要递给律师。律师（大模型）不需要读整个案例库，只需要看助理找来的 5 个就够。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800600"/>
            <a:ext cx="8503920" cy="2743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8640" y="480060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关键挑战：分块策略选择 / 检索精度问题 / Prompt 工程引导大模型"只基于提供的资料回答"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GraphRAG — RAG 的进阶进化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从"找相似的"到"理解关系"</a:t>
            </a:r>
            <a:endParaRPr lang="en-US" sz="1300" dirty="0"/>
          </a:p>
        </p:txBody>
      </p:sp>
      <p:pic>
        <p:nvPicPr>
          <p:cNvPr id="7" name="Image 0" descr="C:\Users\Lenovo\WorkBuddy\20260321152241\ppt_images\graphrag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318" t="18366" r="5582" b="5793"/>
          <a:stretch>
            <a:fillRect/>
          </a:stretch>
        </p:blipFill>
        <p:spPr>
          <a:xfrm>
            <a:off x="548640" y="1097280"/>
            <a:ext cx="4408805" cy="250888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097280"/>
            <a:ext cx="3749040" cy="1501775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188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1887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为什么传统 RAG 不够用？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03520" y="15544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 RAG = 搜索通讯录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搜"张三"能找到电话，但问"张三和李四什么关系？"就答不了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GraphRAG = 人脉关系图谱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沿"关系"线索一步步推理出答案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120640" y="2651760"/>
            <a:ext cx="3749040" cy="954405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303520" y="26974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核心概念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301752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知识图谱 = 实体（节点）+ 关系（边）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Neo4j 最主流的图数据库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自动提取实体和关系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771900"/>
            <a:ext cx="8317865" cy="91440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16" name="Shape 12"/>
          <p:cNvSpPr/>
          <p:nvPr/>
        </p:nvSpPr>
        <p:spPr>
          <a:xfrm>
            <a:off x="548640" y="3771900"/>
            <a:ext cx="54864" cy="91440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45" y="4032885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817620"/>
            <a:ext cx="773620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从购物清单到藏宝图：清单式 RAG 每个条目独立；GraphRAG 画出了路线和连接——"烟台苹果"→"产地烟台"→"山东"→"气候温和"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 RAG vs GraphRAG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各有所长，场景驱动选型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188720"/>
          <a:ext cx="804672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维度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传统 RAG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GraphRAG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知识组织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扁平的文本片段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实体 + 关系的网络结构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擅长回答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"什么是 X？"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"X 的特点是什么？"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"X 和 Y 什么关系？"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"为什么 X 会导致 Y？"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构建成本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低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分块 + Embedding 即可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较高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需要 LLM 提取实体和关系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适用场景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通用问答、文档检索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复杂推理、多跳查询、关系密集领域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9" name="Shape 6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233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97764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实际例子："小李的直属领导是谁？"→ 两者都能回答。"小李的领导 chain 中谁批准过去年 Q3 的预算？"→ 需要沿组织架构图谱走好几层关系，只有 GraphRAG 能做到。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技术栈：</a:t>
            </a:r>
            <a:endParaRPr lang="en-US" sz="1100" dirty="0"/>
          </a:p>
        </p:txBody>
      </p:sp>
      <p:sp>
        <p:nvSpPr>
          <p:cNvPr id="7" name="Text 9"/>
          <p:cNvSpPr/>
          <p:nvPr/>
        </p:nvSpPr>
        <p:spPr>
          <a:xfrm>
            <a:off x="1371600" y="480060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Graph Transformer  |  Neo4j  |  LangChain / LlamaIndex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实际应用场景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/ GraphRAG 在哪里发光？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965960" cy="274320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企业知识库 / 智能客服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42316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5603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 份产品文档 + 2000 条 FAQ 接入 RAG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客服首次响应准确率 60% → 92%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14600" y="1188720"/>
            <a:ext cx="1965960" cy="274320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137160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630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技术文档问答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788920" y="242316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06040" y="25603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"支付系统支持哪些退款场景？"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06040" y="320040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基于内部文档给出精准答案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63440" y="1188720"/>
            <a:ext cx="1965960" cy="274320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03520" y="137160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63440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法律领域辅助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937760" y="242316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54880" y="25603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从大量判例中检索相关先例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54880" y="320040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GraphRAG 尤其适合（多方关系）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12280" y="1188720"/>
            <a:ext cx="1965960" cy="274320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452360" y="1371600"/>
            <a:ext cx="548640" cy="548640"/>
          </a:xfrm>
          <a:prstGeom prst="ellipse">
            <a:avLst/>
          </a:prstGeom>
          <a:solidFill>
            <a:srgbClr val="334155"/>
          </a:solidFill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630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12280" y="2057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医疗辅助诊断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7086600" y="2423160"/>
            <a:ext cx="14173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903720" y="25603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基于医学文献和病历做建议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903720" y="320040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减少信息遗漏，提高诊断效率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65760" y="4160520"/>
            <a:ext cx="8503920" cy="6400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5196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14400" y="42519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可选演示：LangChain + Chroma 最小 RAG 示例 / GraphRAG 知识图谱可视化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164E63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的优势与局限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没有银弹，但确实好用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25603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801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优势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739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3272" y="17373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减少幻觉 — 基于真实资料回答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3113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272" y="21945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知识可更新 — 替换文档即可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8833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3272" y="26517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可解释性强 — 能追溯检索来源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45536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33272" y="31089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低成本 — 无需重新训练模型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754880" y="1188720"/>
            <a:ext cx="4114800" cy="256032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28016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局限</a:t>
            </a:r>
            <a:endParaRPr lang="en-US" sz="1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73936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22392" y="17373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依赖知识库质量 — 垃圾进垃圾出</a:t>
            </a:r>
            <a:endParaRPr lang="en-US" sz="13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231136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22392" y="21945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分块策略影响大 — 没有银弹</a:t>
            </a:r>
            <a:endParaRPr lang="en-US" sz="13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88336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422392" y="26517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检索精度问题 — 可能漏掉或误召回</a:t>
            </a:r>
            <a:endParaRPr lang="en-US" sz="13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145536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422392" y="310896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复杂推理有限 — GraphRAG 可弥补</a:t>
            </a:r>
            <a:endParaRPr lang="en-US" sz="1300" dirty="0"/>
          </a:p>
        </p:txBody>
      </p:sp>
      <p:sp>
        <p:nvSpPr>
          <p:cNvPr id="29" name="Shape 17"/>
          <p:cNvSpPr/>
          <p:nvPr/>
        </p:nvSpPr>
        <p:spPr>
          <a:xfrm>
            <a:off x="365760" y="3977640"/>
            <a:ext cx="8503920" cy="77724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18"/>
          <p:cNvSpPr/>
          <p:nvPr/>
        </p:nvSpPr>
        <p:spPr>
          <a:xfrm>
            <a:off x="548640" y="4023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技术演进路线</a:t>
            </a:r>
            <a:endParaRPr lang="en-US" sz="1300" dirty="0"/>
          </a:p>
        </p:txBody>
      </p:sp>
      <p:sp>
        <p:nvSpPr>
          <p:cNvPr id="31" name="Text 19"/>
          <p:cNvSpPr/>
          <p:nvPr/>
        </p:nvSpPr>
        <p:spPr>
          <a:xfrm>
            <a:off x="548640" y="434340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纯大模型  →  RAG（向量检索增强）  →  GraphRAG（知识图谱增强）  →  RAG + Agent（自主规划与多步检索）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延伸学习资源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持续深进的推荐路径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55700"/>
            <a:ext cx="8046720" cy="8686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65428"/>
            <a:ext cx="914400" cy="2743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7" name="Text 5"/>
          <p:cNvSpPr/>
          <p:nvPr/>
        </p:nvSpPr>
        <p:spPr>
          <a:xfrm>
            <a:off x="731520" y="12654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框架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24714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LangChain 官方文档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59461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模块完整教程与 API 参考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10105"/>
            <a:ext cx="8046720" cy="8686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19833"/>
            <a:ext cx="914400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731520" y="221983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201545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Milvus 官方教程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549017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向量数据库从入门到生产部署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64510"/>
            <a:ext cx="8046720" cy="868680"/>
          </a:xfrm>
          <a:prstGeom prst="rect">
            <a:avLst/>
          </a:prstGeom>
          <a:solidFill>
            <a:srgbClr val="1E293B"/>
          </a:solidFill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174238"/>
            <a:ext cx="914400" cy="2743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7" name="Text 15"/>
          <p:cNvSpPr/>
          <p:nvPr/>
        </p:nvSpPr>
        <p:spPr>
          <a:xfrm>
            <a:off x="731520" y="317423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GraphRAG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15595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Neo4j + GraphRAG 实践指南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274947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图数据库与知识图谱增强检索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18915"/>
            <a:ext cx="8046720" cy="777240"/>
          </a:xfrm>
          <a:prstGeom prst="rect">
            <a:avLst/>
          </a:prstGeom>
          <a:solidFill>
            <a:srgbClr val="2E1065"/>
          </a:solidFill>
        </p:spPr>
      </p:sp>
      <p:sp>
        <p:nvSpPr>
          <p:cNvPr id="21" name="Shape 19"/>
          <p:cNvSpPr/>
          <p:nvPr/>
        </p:nvSpPr>
        <p:spPr>
          <a:xfrm>
            <a:off x="548640" y="4018915"/>
            <a:ext cx="54864" cy="77724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421132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4064635"/>
            <a:ext cx="74980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i="1" dirty="0">
              <a:solidFill>
                <a:srgbClr val="F59E0B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建议动手实践：用 LangChain + Chroma 跑通第一个 RAG Demo，比看十篇文档都有用。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graphicFrame>
        <p:nvGraphicFramePr>
          <p:cNvPr id="24" name="表格 23"/>
          <p:cNvGraphicFramePr/>
          <p:nvPr/>
        </p:nvGraphicFramePr>
        <p:xfrm>
          <a:off x="565467" y="1001395"/>
          <a:ext cx="8013065" cy="31407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6470"/>
                <a:gridCol w="1254125"/>
                <a:gridCol w="1859280"/>
                <a:gridCol w="3147060"/>
                <a:gridCol w="786130"/>
              </a:tblGrid>
              <a:tr h="23241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spc="60">
                          <a:solidFill>
                            <a:schemeClr val="bg1"/>
                          </a:solidFill>
                        </a:rPr>
                        <a:t>对应知识点</a:t>
                      </a:r>
                      <a:endParaRPr lang="zh-CN" altLang="en-US" sz="900" spc="6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spc="60">
                          <a:solidFill>
                            <a:schemeClr val="bg1"/>
                          </a:solidFill>
                        </a:rPr>
                        <a:t>工具名称</a:t>
                      </a:r>
                      <a:endParaRPr lang="zh-CN" altLang="en-US" sz="900" spc="6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spc="60">
                          <a:solidFill>
                            <a:schemeClr val="bg1"/>
                          </a:solidFill>
                        </a:rPr>
                        <a:t>网址</a:t>
                      </a:r>
                      <a:endParaRPr lang="zh-CN" altLang="en-US" sz="900" spc="6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spc="60">
                          <a:solidFill>
                            <a:schemeClr val="bg1"/>
                          </a:solidFill>
                        </a:rPr>
                        <a:t>演示内容</a:t>
                      </a:r>
                      <a:endParaRPr lang="zh-CN" altLang="en-US" sz="900" spc="6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spc="60">
                          <a:solidFill>
                            <a:schemeClr val="bg1"/>
                          </a:solidFill>
                        </a:rPr>
                        <a:t>是否需要注册</a:t>
                      </a:r>
                      <a:endParaRPr lang="zh-CN" altLang="en-US" sz="900" spc="6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35052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Embedding /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向量空间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TensorFlow Embedding Projector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1"/>
                        </a:rPr>
                        <a:t>https://projector.tensorflow.org/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1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加载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Word2Vec/GloVe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词向量，在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3D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空间中交互式浏览词语聚类（搜索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king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观察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queen/man/woman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）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41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Embedding /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向量空间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Jina AI Embedding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2"/>
                        </a:rPr>
                        <a:t>https://jina.ai/embeddings/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输入文本，实时生成向量，展示相似文本匹配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41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关键词搜索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vs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语义搜索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Cohere Playground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3"/>
                        </a:rPr>
                        <a:t>https://dashboard.cohere.com/playground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3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对比语义搜索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vs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关键词搜索的排序差异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是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351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关键词搜索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vs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语义搜索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Pinecone Learn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4"/>
                        </a:rPr>
                        <a:t>https://pinecone.io/learn/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4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互动式语义搜索教程，在浏览器中体验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41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向量数据库实操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ChromaDB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5"/>
                        </a:rPr>
                        <a:t>https://www.trychroma.com/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5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几行代码跑起向量数据库，在线环境直接运行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351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向量数据库实操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Weaviate Console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6"/>
                        </a:rPr>
                        <a:t>https://console.weaviate.cloud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6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免费云端实例，创建集合、插入数据、自然语言查询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是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41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向量数据库实操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Pinecone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7"/>
                        </a:rPr>
                        <a:t>https://app.pinecone.io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（免费层）</a:t>
                      </a:r>
                      <a:endParaRPr lang="zh-CN" altLang="en-US" sz="700">
                        <a:solidFill>
                          <a:schemeClr val="bg1"/>
                        </a:solidFill>
                        <a:hlinkClick r:id="rId7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Web UI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做向量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CRUD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，体验托管服务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是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351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RAG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全流程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ChatPDF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8"/>
                        </a:rPr>
                        <a:t>https://www.chatpdf.com/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8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上传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PDF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直接对话，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AI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基于文档回答并标注来源页码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41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RAG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全流程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Perplexity.ai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9"/>
                        </a:rPr>
                        <a:t>https://www.perplexity.ai/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9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AI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搜索引擎，回答附带引用来源，可点击查看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是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351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RAG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全流程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Dify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10"/>
                        </a:rPr>
                        <a:t>https://cloud.dify.ai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10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低代码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RAG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平台，可视化配置知识库、上传文档、对话测试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是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35115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RAG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全流程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LangChain + Streamlit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HuggingFace Space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搜索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"langchain rag streamlit"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开源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RAG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演示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App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，在线体验完整流程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41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GraphRAG /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知识图谱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Neo4j Aura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11"/>
                        </a:rPr>
                        <a:t>https://neo4j.com/cloud/aura/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11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免费云图数据库，浏览器中写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Cypher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查询，实时可视化关系网络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是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351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GraphRAG /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知识图谱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Microsoft GraphRAG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GitHub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搜索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"microsoft graphrag"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微软官方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GraphRAG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示例，含知识图谱可视化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  <a:tr h="1841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GraphRAG /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知识图谱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YASGUI (Wikidata)</a:t>
                      </a:r>
                      <a:endParaRPr lang="en-US" altLang="zh-CN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solidFill>
                            <a:schemeClr val="bg1"/>
                          </a:solidFill>
                          <a:hlinkClick r:id="rId12"/>
                        </a:rPr>
                        <a:t>https://yasgui.org</a:t>
                      </a:r>
                      <a:endParaRPr lang="en-US" altLang="zh-CN" sz="700">
                        <a:solidFill>
                          <a:schemeClr val="bg1"/>
                        </a:solidFill>
                        <a:hlinkClick r:id="rId1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连接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Wikidata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知识图谱，用 </a:t>
                      </a:r>
                      <a:r>
                        <a:rPr lang="en-US" altLang="zh-CN" sz="700">
                          <a:solidFill>
                            <a:schemeClr val="bg1"/>
                          </a:solidFill>
                        </a:rPr>
                        <a:t>SPARQL </a:t>
                      </a: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查询实体关系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700">
                          <a:solidFill>
                            <a:schemeClr val="bg1"/>
                          </a:solidFill>
                        </a:rPr>
                        <a:t>否</a:t>
                      </a:r>
                      <a:endParaRPr lang="zh-CN" altLang="en-US" sz="70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350" marB="6350" anchor="ctr" anchorCtr="0"/>
                </a:tc>
              </a:tr>
            </a:tbl>
          </a:graphicData>
        </a:graphic>
      </p:graphicFrame>
      <p:sp>
        <p:nvSpPr>
          <p:cNvPr id="25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延伸学习资源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WorkBuddy\20260321152241\ppt_images\thankyou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2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3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4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5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6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7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8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9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10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11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12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13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14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ags/tag15.xml><?xml version="1.0" encoding="utf-8"?>
<p:tagLst xmlns:p="http://schemas.openxmlformats.org/presentationml/2006/main">
  <p:tag name="KSO_WM_DIAGRAM_VIRTUALLY_FRAME" val="{&quot;height&quot;:307.45,&quot;left&quot;:373,&quot;top&quot;:72.15,&quot;width&quot;:3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4002</Words>
  <Application>WPS 演示</Application>
  <PresentationFormat>On-screen Show (16:9)</PresentationFormat>
  <Paragraphs>544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Inter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RAG、向量数据库与 GraphRAG 入门培训</dc:title>
  <dc:creator>AI Training Team</dc:creator>
  <dc:subject>PptxGenJS Presentation</dc:subject>
  <cp:lastModifiedBy>蓝沐</cp:lastModifiedBy>
  <cp:revision>19</cp:revision>
  <dcterms:created xsi:type="dcterms:W3CDTF">2026-03-21T12:11:00Z</dcterms:created>
  <dcterms:modified xsi:type="dcterms:W3CDTF">2026-03-21T13:20:53Z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181299D612154F1684D4D77BA09345B9_12</vt:lpwstr>
  </property>
  <property fmtid="{D5CDD505-2E9C-101B-9397-08002B2CF9AE}" pid="3" name="KSOProductBuildVer">
    <vt:lpwstr>2052-12.1.0.25225</vt:lpwstr>
  </property>
</Properties>
</file>