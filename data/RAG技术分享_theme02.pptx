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各位同事好，今天分享的主题是 RAG——检索增强生成。大家可能已经用过 ChatGPT 或者其他大语言模型，有没有遇到过这样的情况：你问它公司内部的业务问题，它一本正经地“胡说八道”？或者你让它帮你查一段最新的技术文档，它告诉你一个不存在的 API？这就是大模型的“幻觉”问题。RAG 就是解决这个问题的核心方案之一。今天的目标很简单：让大家搞清楚 RAG 是什么、怎么工作、以及在我们的开发工作中什么时候该用、什么时候不该用。整个分享大概 30 到 40 分钟，中间有任何问题随时可以打断。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在讲 RAG 之前，我们先聊聊为什么需要它。大语言模型虽然强大，但有三个绕不开的硬伤。第一，知识截止——模型的训练数据是有时间断点的，问它最近发生的事或者最新的技术版本，它就无能为力了。第二，领域知识盲区——大模型训练用的是公开数据，你们公司的内部文档、业务系统、私有知识库，它通通不知道。第三，也是最危险的，幻觉问题——它不知道的问题不会说“我不知道”，而是会一本正经地编一个答案，而且编得特别有说服力，代码看起来能跑，API 看起来存在，但其实全是假的。这三个问题在 ToB 场景中是致命的。RAG 的核心思路其实特别朴素：既然大模型不知道，那我们就先把相关的资料找出来，连同问题一起喂给它，让它“看着资料”回答。这就像开卷考试——不带书（纯大模型）容易答错，带书（RAG）就能答对。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什么是 RAG？全称是 Retrieval-Augmented Generation，中文叫“检索增强生成”。名字听着高大上，但核心思路非常朴素。我用一个大家都能理解的类比：纯大模型回答问题，就像闭卷考试——你只能靠脑子里的记忆，记错了就答错了。RAG 呢，就像开卷考试——答题之前先翻书找到相关章节，看着书上的内容来组织答案。只不过这里的“书”是企业的知识库、文档库、数据库，“翻书”的动作是由检索系统自动完成的。所以 RAG 三个字母拆开看：R 是 Retrieval，先检索；A 是 Augmented，用检索结果增强上下文；G 是 Generation，大模型基于增强后的上下文生成最终回答。这个类比很重要，后面的所有技术细节，本质上都是在优化“怎么翻书更准更快”。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在实际工作中，让大模型更好用主要有三条路：提示工程、RAG、微调。这不是三选一的排斥关系，而是可以组合使用的。但对于知识增强这个需求，我们主要比较 RAG 和微调。微调是用你的领域数据重新训练模型，相当于送模型去上培训班——学得好但成本高，而且知识更新了又得重新训。RAG 是外挂一个知识库，知识更新了只需要往库里加新文档就行，灵活得多。记住一个经验法则：如果你的需求是“让模型知道更多知识”，优先考虑 RAG；如果是“让模型回答风格更符合要求”或“让模型学会某种特定任务”，才考虑微调。当然，在 RAG 的基础上再叠加微调，效果会更好——这叫 RAFT，是进阶话题，今天不展开。提示工程则是所有方案的基础，无论用不用 RAG，prompt 写得好不好直接决定最终效果。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这页是整个分享的核心——RAG 的架构总览。大家先不用纠结技术细节，抓住两条链路就行。第一条是离线链路，也叫数据接入链路：你有一堆文档——PDF、Word、网页、代码——首先要解析提取文本，然后把长文本切成小块，接着用 Embedding 模型把每个文本块转成向量，最后存进向量数据库。这一步的目的是把你的知识“结构化地存进去”。第二条是在线链路，也叫检索问答链路：用户问了一个问题，首先把问题也转成向量，然后在向量数据库里做相似度检索，找出最相关的几个文本块，可能还会做一轮重排序来提高精度，接着把检索到的内容和用户问题组装成一个 prompt，发给大模型，大模型基于这些上下文生成最终回答。后面所有的技术细节——分块策略、Embedding 选型、检索算法、重排序——都是围绕这两条链路的每个环节做优化。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上一页是架构图，这页我们把流程拆细，一步步来看。第一步文档加载，就是把各种格式的文件读进来。这里有个坑：PDF 的表格和图片提取特别麻烦，有时候需要用 OCR。第二步文本分块，这个非常关键——块太大，检索不精准；块太小，上下文不完整。后面会专门讲。第三步向量化，就是用 Embedding 模型把文本转成一串数字——向量。你可以理解为把文本的“语义”编码成坐标，语义相近的文本在向量空间里距离也近。第四步存进向量数据库，主流的有 Milvus、Chroma、Pinecone，各有各的适用场景。第五步检索，用户提问后用同样的 Embedding 模型把问题转成向量，然后计算相似度找最相关的文本块。检索完通常会加一轮重排序，因为向量检索虽然快但精度有限，用专门的 Reranker 模型再排一遍能显著提升准确率。第六步生成，把检索到的内容拼到 prompt 里发给大模型。注意这里要管理好 Context Window——如果检索回来的内容太多，超过了模型的上下文窗口，就得截断或者压缩。这六步是 RAG 的骨架，后面我们看几个关键环节的细节。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文本分块是 RAG 中最容易被忽视但影响最大的环节。为什么重要？因为检索的基本单位是“块”——如果块切得不好，把一个完整的意思切成了两半，那检索的时候不管怎么搜都搜不到完整的上下文。三种主流策略：固定长度最简单，直接按字数切，但可能把一句话从中间断开；递归分块是 LangChain 的默认策略，先按段落切，段落太大就按行切，再大就按空格切，保证尽量在自然边界处断开；语义分块最高级，用 Embedding 模型判断语义转折点，但成本高。实战中的经验值：一般文档用 500 tokens 左右的块大小，加 50 tokens 的重叠。如果是代码，一定要按函数和类的边界来切，不能从函数中间断开。Markdown 可以利用标题层级来分块，每个标题下的内容作为一个块。分块策略没有银弹，需要根据你的文档类型来调整。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 RAG 的两个核心基础设施：Embedding 和向量数据库。先说 Embedding——它的作用是把文本变成向量。你可以这样理解：每个文本块在向量空间里都有一个坐标，语义相近的文本坐标也近。比如“如何重置密码”和“密码忘记了怎么办”虽然用词不同，但语义相近，它们的向量距离就很近。这就是为什么用户问“密码忘了”能搜到文档里写“密码重置流程”的原因——基于语义而非关键词匹配。Embedding 模型选型方面，如果是中文场景，BGE 和 M3E 都是国内社区的主流选择，而且可以本地部署，不依赖外部 API。OpenAI 的 Embedding 效果也不错，但数据要传到国外。再说向量数据库，它的核心能力是“给一个向量，快速找出库里最相似的 K 个向量”。小项目用 Chroma 就行，一行代码就能跑；生产环境推荐 Milvus，支持分布式和高可用；不想运维就用 Pinecone 云服务。关键概念记住两个：余弦相似度是衡量相似性的标准，ANN 是快速检索的核心技术——暴力遍历 100 万条向量要好几秒，用 ANN 索引只要几毫秒。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检索是 RAG 中决定效果上限的环节。检索策略经历了三代演进。第一代纯向量检索，好处是能理解语义——你问“怎么改密码”能搜到“密码重置指南”，但缺点是精确匹配关键词的能力弱——你搜一个专有名词“K8sNodeReady”可能搜不到。第二代混合检索，把向量检索和 BM25 关键词检索结合起来，BM25 就是传统搜索引擎用的算法，对精确关键词匹配很强，两者取长补短。第三代在混合检索基础上加了重排序——先粗筛召回 20 条候选，再用 Reranker 精排选最好的 5 条。为什么要这样？因为向量检索用的是双塔模型，为了速度做了简化，精度有损失；Reranker 用的是交叉编码器，把问题和每个候选文档放在一起精细打分，精度高但慢。所以策略是“先粗后精”——快检索多召回，慢重排精选。最后提几个进阶手段：Query 改写很重要，因为用户的提问往往很口语化，直接拿去检索效果不好，先用 LLM 改写成更规范的检索词；父子分块是个很实用的技巧，检索的时候用小块来提高精准度，但生成回答的时候把小块所属的大块取出来，保证上下文完整。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了解了 RAG 的原理和技术，那在实际工作中什么时候该用？我总结了六个典型场景。第一，企业知识库问答——这是 RAG 最经典的应用，让员工直接问“年假怎么请”“报销流程是什么”，比翻文档快多了。第二，智能客服——基于产品手册和 FAQ 自动回复，注意 RAG 解决的是“有标准答案的问题”，不是闲聊。第三，文档分析——法律合同里找风险条款、研报里提取关键数据，RAG 的可溯源能力在这里特别重要，每个结论都能指向原文。第四，代码和 API 文档助手——这个跟我们开发直接相关，后面实战环节细讲。第五，需要最新信息的场景——大模型的知识有截止日期，但 RAG 可以接实时数据源。第六，任何需要可溯源回答的高风险场景——医疗、法律、金融，不能让大模型随便编，每句话都得有出处。总结一下共同特征：知识量大且会更新、需要准确而非创造、需要可溯源、涉及私有领域数据——满足这几条，RAG 基本就是首选方案。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不是万能药，有些场景用它反而不如不用。第一种，纯创造性任务——写诗写故事，你需要的是模型的创造力，RAG 引入参考资料反而会让输出“套路化”。第二种，通用知识问答——“什么是二分查找”“RESTful 是什么”，这些大模型训练时早就学过了，直接问就行，检索反而多此一举，还增加了延迟。第三种，规则明确的简单任务——数据格式转换、简单计算，写段代码比搭 RAG 系统靠谱一百倍，而且更可控。不要“拿着锤子看什么都是钉子”。第四种，实时性要求极高的场景——RAG 的完整链路通常要 1 到 5 秒，如果你需要毫秒级响应，RAG 不合适。第五种，数据量太小——如果你只有五页文档，建一套 RAG 系统的投入产出比太低了，不如直接把文档贴到 prompt 里。这里给大家一个简单的决策清单：先问“大模型本身能答好吗”，能答好就不用 RAG；再问“需要基于特定文档吗”，不需要就不用 RAG；最后问“有足够文档建库吗”，没有就先积累。三个问题都指向“否”，再考虑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第一个实战场景是大家最容易遇到的——企业知识库问答。架构大家看图就行，核心就是我们前面讲的 RAG 流程。这里我重点讲三个落地时一定会遇到的坑。第一个坑是文档质量——很多公司的文档格式混乱、内容过时、甚至互相矛盾。RAG 是“垃圾进垃圾出”——如果你的知识库里全是过期文档，那 RAG 系统只会更高效地给出错误答案。所以上线前一定要做文档治理。第二个坑是权限控制——比如薪资制度只有 HR 能看，代码文档只有研发能看。这个怎么解决？在文档入库的时候打上 metadata 标签，比如部门、密级，检索的时候加上过滤条件，只搜当前用户有权限的文档。第三个坑是效果评估——RAG 系统上线后，老板问你“答得准不准”，你不能说“感觉还行”。你需要一套量化评估体系，这就是后面要讲的 RAGAS 指标。技术选型方面，原型阶段用 LangChain + Chroma + OpenAI 就能快速跑起来，生产环境再换 Milvus + 本地部署模型。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第二个实战场景跟我们开发更贴近——智能代码助手。大家可能用过 Copilot 或者通义灵码，它们是基于公开代码训练的，擅长写通用代码。但它们不了解你们公司的内部框架、私有 API、项目架构。比如你问“我们的支付回调怎么处理的”，Copilot 根本不知道。这就是代码 RAG 的价值——把团队自己的代码仓库、API 文档、技术 wiki 建成知识库，让 AI 能回答项目相关的问题。代码 RAG 跟普通文档 RAG 最大的区别在分块策略——代码必须按函数和类的边界来切，不能从函数中间断开。更专业的做法是用 AST 解析器来精确定位代码结构边界。另外可以做多粒度索引——函数级用于精确查找某个 API 用法，文件级用于理解文件职责，模块级用于理解架构关系。右边这个示例大家可以看到，用户问“支付回调怎么处理”，RAG 先检索到 PaymentCallbackController 和相关 Service 的代码，然后 LLM 基于这些代码生成回答，不仅解释了流程，还能直接指向具体代码位置。这就是 RAG 在开发场景的实际价值。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这里先抛一个问题给大家想想：用了 RAG 之后，大模型还会不会“胡说八道”？大家可以讨论一下。……好，其实这是 RAG 实际工作中最常遇到的挑战之一。很多人以为用了 RAG 就不会有幻觉了，这是误解。RAG 减少了幻觉，但不能完全消除。我们先分析根因：幻觉有两个来源——检索阶段和生成阶段。检索阶段的幻觉是：该检索到的内容没检索到，但系统还是让大模型回答了，大模型就只能编。生成阶段的幻觉是：检索结果明明有正确信息，但大模型“无视”了，还是用自己的知识编了一个答案。解决方案要分层面。检索层面，提升召回率确保相关内容被找到，同时设一个相似度阈值——如果检索结果跟问题的相似度都很低，说明知识库里可能就没有相关内容，这时候应该直接返回“未找到”，而不是强行回答。Prompt 层面非常关键，要明确告诉模型“只能用参考资料回答，资料里没有就说不知道”。另外要求模型标注引用来源，这样既增加了可信度，也方便人工核查。生成层面可以做后处理校验——用另一个模型检查答案是否真的来自检索内容。系统层面要有兜底策略，检索结果为空时转人工。右边这个 prompt 模板大家可以直接用，核心就是三条规则：只用参考资料、没有就说不知道、标注来源。按照这个框架，从检索到生成到兜底全链路覆盖，就是一个完整的解决思路。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同样先问大家一个问题：如果你做的 RAG 系统检索效果不好，经常搜到不相关的内容，你会从哪里入手优化？大家可以聊聊自己的想法。……好，这个问题考察的是 RAG 系统的系统性优化能力。不是简单说“换个更好的模型”就行，而是要有一套结构化的排查和优化方法论。我把优化策略分成三层：数据层、检索层、查询层。数据层是基础——分块策略调不调、数据有没有清洗、有没有打 metadata 标签。检索层是核心——有没有用混合检索、有没有加 Reranker、Top-K 设的合不合理。查询层是最容易被忽视的——用户的提问往往很口语化、很模糊，直接拿去检索效果差。比如用户问“登录不了怎么办”，这个 query 里的“登录不了”跟文档里写的“账号认证失败排查”在向量空间里未必很近。用 Query 改写把口语化提问变成更规范的检索词，效果会好很多。HyDE 是个很有意思的技巧——先让 LLM 假设一个答案，再用这个假设答案的向量去检索，因为“答案跟答案的语义相似度”通常比“问题跟答案的相似度”更高。最后这个诊断方法论很重要：发现问题后先看检索结果相不相关——不相关就是检索或查询层的问题；相关但回答错了，那就是生成层的问题，可能是 prompt 没约束好，或者 context 太长导致模型“中间遗忘”——这是个已知现象，LLM 对 context 中间位置的信息注意力会下降。按这个框架来排查和优化，体现的是系统化思维。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系统做完了，怎么评估效果好不好？不能凭感觉。业界最流行的是 RAGAS 框架，四个核心指标。Faithfulness 看有没有幻觉——回答是否忠于检索内容，不能编。Answer Relevancy 看有没有答非所问——用户问 A 你答 B。Context Precision 和 Recall 看检索环节——前者是“搜到的东西有多少有用”，后者是“该搜到的是不是都搜到了”。有了这套指标，你就能定位问题出在哪——Faithfulness 低说明生成层有问题，Context Precision 低说明检索层要优化。评估流程很简单：先人工标几十到上百个测试用例，每个用例包括问题、标准答案、相关文档，然后跑系统、算指标、定向优化、迭代。实际工作中还可以配合 LLM-as-Judge——用 GPT-4 给回答打分，成本低效率高。上线后收集用户反馈，点赞点踩，持续积累 bad case 来优化。这一页的核心信息是：RAG 效果评估要有量化指标，不能靠“感觉还行”。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快速回顾一下今天的内容。我们从“为什么需要 RAG”出发——大模型有知识截止、领域盲区、幻觉三大硬伤。RAG 的本质是“开卷考试”——先从知识库里检索相关资料，再让大模型基于资料生成回答。工作流程分离线入库和在线问答两条链路，涉及分块、向量化、检索、重排序等关键技术。适用场景方面，知识量大且会更新、需要准确和可溯源、涉及私有数据的场景适合用 RAG；纯创造性、通用知识、简单规则、超低延迟、数据太少的场景不适合。实战中我们看了企业知识库和代码助手两个场景。思考问题环节，我们讨论了幻觉问题和检索优化，核心是全链路防护和三层优化。效果评估要用 RAGAS 量化指标。最后三句话总结：RAG 的本质是开卷考试，核心价值是让回答可溯源可更新，效果上限由检索决定下限由 Prompt 兜底。如果大家想深入学，LangChain 和 LlamaIndex 的官方文档是最好的起点，两篇论文也推荐读一下。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以上就是今天的全部内容。最后留些时间给大家提问。我预设了几个可能被问到的问题：1. RAG 和 Agent 有什么关系？——RAG 是 Agent 的一个“工具”，Agent 可以在推理过程中自主决定是否调用 RAG 检索。2. 快速试一个 RAG demo 最快多久？——用 LangChain + Chroma + OpenAI API，半天就能跑通一个原型。3. RAG 的成本主要在哪？——三块：Embedding 调用费用、LLM 生成费用、向量数据库存储和计算费用，大头通常是 LLM 生成。4. 向量数据库和 ES 有什么区别？——ES 主要是关键词匹配（BM25），向量数据库是语义检索，现在 ES 也支持向量检索了，两者界限在模糊。如果暂时没有问题，会后也欢迎随时找我交流。谢谢大家！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99" y="0"/>
            <a:ext cx="10124603" cy="8229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77362" y="2254819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96899" y="2125248"/>
            <a:ext cx="243669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360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技术分享 · 2026</a:t>
            </a:r>
            <a:endParaRPr lang="en-US" sz="1584" dirty="0"/>
          </a:p>
        </p:txBody>
      </p:sp>
      <p:sp>
        <p:nvSpPr>
          <p:cNvPr id="8" name="Shape 4"/>
          <p:cNvSpPr/>
          <p:nvPr/>
        </p:nvSpPr>
        <p:spPr>
          <a:xfrm>
            <a:off x="8426287" y="2254819"/>
            <a:ext cx="426750" cy="1527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651163" y="2615665"/>
            <a:ext cx="1327892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endParaRPr lang="en-US" sz="4920" dirty="0"/>
          </a:p>
        </p:txBody>
      </p:sp>
      <p:sp>
        <p:nvSpPr>
          <p:cNvPr id="10" name="Text 6"/>
          <p:cNvSpPr/>
          <p:nvPr/>
        </p:nvSpPr>
        <p:spPr>
          <a:xfrm>
            <a:off x="5413614" y="3278353"/>
            <a:ext cx="3803081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412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检索增强生成</a:t>
            </a:r>
            <a:endParaRPr lang="en-US" sz="4920" dirty="0"/>
          </a:p>
        </p:txBody>
      </p:sp>
      <p:sp>
        <p:nvSpPr>
          <p:cNvPr id="11" name="Shape 7"/>
          <p:cNvSpPr/>
          <p:nvPr/>
        </p:nvSpPr>
        <p:spPr>
          <a:xfrm>
            <a:off x="5943600" y="4353184"/>
            <a:ext cx="2743200" cy="15270"/>
          </a:xfrm>
          <a:prstGeom prst="rect">
            <a:avLst/>
          </a:prstGeom>
          <a:solidFill>
            <a:srgbClr val="2FE07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6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389120" y="4660002"/>
            <a:ext cx="588873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让大模型真正懂你的业务——从原理到实战的全景解析</a:t>
            </a:r>
            <a:endParaRPr lang="en-US" sz="1920" dirty="0"/>
          </a:p>
        </p:txBody>
      </p:sp>
      <p:sp>
        <p:nvSpPr>
          <p:cNvPr id="13" name="Shape 9"/>
          <p:cNvSpPr/>
          <p:nvPr/>
        </p:nvSpPr>
        <p:spPr>
          <a:xfrm>
            <a:off x="6957030" y="5441320"/>
            <a:ext cx="7590" cy="34290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65690" y="5441320"/>
            <a:ext cx="7590" cy="34290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45670" y="7284750"/>
            <a:ext cx="13644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RAG核心原理</a:t>
            </a:r>
            <a:endParaRPr lang="en-US" sz="1584" dirty="0"/>
          </a:p>
        </p:txBody>
      </p:sp>
      <p:sp>
        <p:nvSpPr>
          <p:cNvPr id="16" name="Text 12"/>
          <p:cNvSpPr/>
          <p:nvPr/>
        </p:nvSpPr>
        <p:spPr>
          <a:xfrm>
            <a:off x="6350005" y="728475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</a:t>
            </a:r>
            <a:endParaRPr lang="en-US" sz="1584" dirty="0"/>
          </a:p>
        </p:txBody>
      </p:sp>
      <p:sp>
        <p:nvSpPr>
          <p:cNvPr id="17" name="Text 13"/>
          <p:cNvSpPr/>
          <p:nvPr/>
        </p:nvSpPr>
        <p:spPr>
          <a:xfrm>
            <a:off x="6629537" y="7284750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适用场景判断</a:t>
            </a:r>
            <a:endParaRPr lang="en-US" sz="1584" dirty="0"/>
          </a:p>
        </p:txBody>
      </p:sp>
      <p:sp>
        <p:nvSpPr>
          <p:cNvPr id="18" name="Text 14"/>
          <p:cNvSpPr/>
          <p:nvPr/>
        </p:nvSpPr>
        <p:spPr>
          <a:xfrm>
            <a:off x="8037256" y="7284750"/>
            <a:ext cx="220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17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</a:t>
            </a:r>
            <a:endParaRPr lang="en-US" sz="1584" dirty="0"/>
          </a:p>
        </p:txBody>
      </p:sp>
      <p:sp>
        <p:nvSpPr>
          <p:cNvPr id="19" name="Text 15"/>
          <p:cNvSpPr/>
          <p:nvPr/>
        </p:nvSpPr>
        <p:spPr>
          <a:xfrm>
            <a:off x="8316788" y="7284750"/>
            <a:ext cx="134846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实战案例拆解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67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大模型的硬伤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45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三大硬伤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315376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为什么需要RAG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894545"/>
            <a:ext cx="12984480" cy="1817004"/>
          </a:xfrm>
          <a:prstGeom prst="roundRect">
            <a:avLst>
              <a:gd name="adj" fmla="val 15313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4545"/>
            <a:ext cx="12984480" cy="1817004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830550" y="1902135"/>
            <a:ext cx="45720" cy="1801734"/>
          </a:xfrm>
          <a:prstGeom prst="rect">
            <a:avLst/>
          </a:prstGeom>
          <a:solidFill>
            <a:srgbClr val="A8F6C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09550" dist="12700" dir="16200000">
              <a:srgbClr val="A8F6CD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135410" y="2591477"/>
            <a:ext cx="577901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EAFFF4">
                    <a:alpha val="56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80" dirty="0"/>
          </a:p>
        </p:txBody>
      </p:sp>
      <p:sp>
        <p:nvSpPr>
          <p:cNvPr id="14" name="Text 10"/>
          <p:cNvSpPr/>
          <p:nvPr/>
        </p:nvSpPr>
        <p:spPr>
          <a:xfrm>
            <a:off x="1897380" y="2449906"/>
            <a:ext cx="112773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A8F6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幻觉问题</a:t>
            </a:r>
            <a:endParaRPr lang="en-US" sz="2040" dirty="0"/>
          </a:p>
        </p:txBody>
      </p:sp>
      <p:sp>
        <p:nvSpPr>
          <p:cNvPr id="15" name="Shape 11"/>
          <p:cNvSpPr/>
          <p:nvPr/>
        </p:nvSpPr>
        <p:spPr>
          <a:xfrm>
            <a:off x="3055650" y="2451506"/>
            <a:ext cx="1157082" cy="365760"/>
          </a:xfrm>
          <a:prstGeom prst="roundRect">
            <a:avLst>
              <a:gd name="adj" fmla="val 15213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8F6C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77540" y="2592507"/>
            <a:ext cx="83850" cy="83850"/>
          </a:xfrm>
          <a:prstGeom prst="ellipse">
            <a:avLst/>
          </a:prstGeom>
          <a:solidFill>
            <a:srgbClr val="A8F6C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A8F6CD">
                <a:alpha val="7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329970" y="2497226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幻觉风险</a:t>
            </a:r>
            <a:endParaRPr lang="en-US" sz="1584" dirty="0"/>
          </a:p>
        </p:txBody>
      </p:sp>
      <p:sp>
        <p:nvSpPr>
          <p:cNvPr id="18" name="Text 14"/>
          <p:cNvSpPr/>
          <p:nvPr/>
        </p:nvSpPr>
        <p:spPr>
          <a:xfrm>
            <a:off x="1897380" y="2882006"/>
            <a:ext cx="11679906" cy="3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对不知道的问题编造看似合理的答案，代码和API全是假的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22960" y="1894545"/>
            <a:ext cx="12946350" cy="1778874"/>
          </a:xfrm>
          <a:prstGeom prst="roundRect">
            <a:avLst>
              <a:gd name="adj" fmla="val 15641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818260"/>
            <a:ext cx="12984480" cy="1817096"/>
          </a:xfrm>
          <a:prstGeom prst="roundRect">
            <a:avLst>
              <a:gd name="adj" fmla="val 15312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822960" y="3818260"/>
            <a:ext cx="12984480" cy="1817096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2" name="Shape 17"/>
          <p:cNvSpPr/>
          <p:nvPr/>
        </p:nvSpPr>
        <p:spPr>
          <a:xfrm>
            <a:off x="830550" y="3825850"/>
            <a:ext cx="45720" cy="1801917"/>
          </a:xfrm>
          <a:prstGeom prst="rect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09550" dist="12700" dir="16200000">
              <a:srgbClr val="4EA2FF">
                <a:alpha val="7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135410" y="4515283"/>
            <a:ext cx="577901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80" dirty="0"/>
          </a:p>
        </p:txBody>
      </p:sp>
      <p:sp>
        <p:nvSpPr>
          <p:cNvPr id="24" name="Text 19"/>
          <p:cNvSpPr/>
          <p:nvPr/>
        </p:nvSpPr>
        <p:spPr>
          <a:xfrm>
            <a:off x="1897380" y="4373712"/>
            <a:ext cx="164592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领域知识盲区</a:t>
            </a:r>
            <a:endParaRPr lang="en-US" sz="2040" dirty="0"/>
          </a:p>
        </p:txBody>
      </p:sp>
      <p:sp>
        <p:nvSpPr>
          <p:cNvPr id="25" name="Shape 20"/>
          <p:cNvSpPr/>
          <p:nvPr/>
        </p:nvSpPr>
        <p:spPr>
          <a:xfrm>
            <a:off x="3573750" y="4375313"/>
            <a:ext cx="1157082" cy="365760"/>
          </a:xfrm>
          <a:prstGeom prst="roundRect">
            <a:avLst>
              <a:gd name="adj" fmla="val 15213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695730" y="4516313"/>
            <a:ext cx="83850" cy="8385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848070" y="4421033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4EA2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知识盲区</a:t>
            </a:r>
            <a:endParaRPr lang="en-US" sz="1584" dirty="0"/>
          </a:p>
        </p:txBody>
      </p:sp>
      <p:sp>
        <p:nvSpPr>
          <p:cNvPr id="28" name="Text 23"/>
          <p:cNvSpPr/>
          <p:nvPr/>
        </p:nvSpPr>
        <p:spPr>
          <a:xfrm>
            <a:off x="1897380" y="4805812"/>
            <a:ext cx="11679906" cy="3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不了解企业内部文档和私有数据，问报销流程完全不知道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822960" y="5742066"/>
            <a:ext cx="12984480" cy="1817004"/>
          </a:xfrm>
          <a:prstGeom prst="roundRect">
            <a:avLst>
              <a:gd name="adj" fmla="val 15313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822960" y="5742066"/>
            <a:ext cx="12984480" cy="1817004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1" name="Shape 25"/>
          <p:cNvSpPr/>
          <p:nvPr/>
        </p:nvSpPr>
        <p:spPr>
          <a:xfrm>
            <a:off x="830550" y="5749656"/>
            <a:ext cx="45720" cy="1801734"/>
          </a:xfrm>
          <a:prstGeom prst="rect">
            <a:avLst/>
          </a:prstGeom>
          <a:solidFill>
            <a:srgbClr val="EEF3F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09550" dist="12700" dir="16200000">
              <a:srgbClr val="EEF3F1">
                <a:alpha val="34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1135410" y="6438998"/>
            <a:ext cx="577901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80" dirty="0"/>
          </a:p>
        </p:txBody>
      </p:sp>
      <p:sp>
        <p:nvSpPr>
          <p:cNvPr id="33" name="Text 27"/>
          <p:cNvSpPr/>
          <p:nvPr/>
        </p:nvSpPr>
        <p:spPr>
          <a:xfrm>
            <a:off x="1897380" y="6297427"/>
            <a:ext cx="164592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知识截止问题</a:t>
            </a:r>
            <a:endParaRPr lang="en-US" sz="2040" dirty="0"/>
          </a:p>
        </p:txBody>
      </p:sp>
      <p:sp>
        <p:nvSpPr>
          <p:cNvPr id="34" name="Shape 28"/>
          <p:cNvSpPr/>
          <p:nvPr/>
        </p:nvSpPr>
        <p:spPr>
          <a:xfrm>
            <a:off x="3573750" y="6299027"/>
            <a:ext cx="1157082" cy="365760"/>
          </a:xfrm>
          <a:prstGeom prst="roundRect">
            <a:avLst>
              <a:gd name="adj" fmla="val 15213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95730" y="6439936"/>
            <a:ext cx="83850" cy="83850"/>
          </a:xfrm>
          <a:prstGeom prst="ellipse">
            <a:avLst/>
          </a:prstGeom>
          <a:solidFill>
            <a:srgbClr val="EEF3F1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EEF3F1">
                <a:alpha val="34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3848070" y="6344747"/>
            <a:ext cx="9302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信息过时</a:t>
            </a:r>
            <a:endParaRPr lang="en-US" sz="1584" dirty="0"/>
          </a:p>
        </p:txBody>
      </p:sp>
      <p:sp>
        <p:nvSpPr>
          <p:cNvPr id="37" name="Text 31"/>
          <p:cNvSpPr/>
          <p:nvPr/>
        </p:nvSpPr>
        <p:spPr>
          <a:xfrm>
            <a:off x="1897380" y="6729527"/>
            <a:ext cx="11734770" cy="3036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训练数据有截止日期，问最新技术版本答不上来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396746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396746"/>
            <a:ext cx="119786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什么是RAG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822960" y="2181576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70" dirty="0"/>
          </a:p>
        </p:txBody>
      </p:sp>
      <p:sp>
        <p:nvSpPr>
          <p:cNvPr id="8" name="Text 5"/>
          <p:cNvSpPr/>
          <p:nvPr/>
        </p:nvSpPr>
        <p:spPr>
          <a:xfrm>
            <a:off x="1752630" y="2234885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横向看集中</a:t>
            </a:r>
            <a:endParaRPr lang="en-US" sz="1716" dirty="0"/>
          </a:p>
        </p:txBody>
      </p:sp>
      <p:sp>
        <p:nvSpPr>
          <p:cNvPr id="9" name="Text 6"/>
          <p:cNvSpPr/>
          <p:nvPr/>
        </p:nvSpPr>
        <p:spPr>
          <a:xfrm>
            <a:off x="1752630" y="2580483"/>
            <a:ext cx="4202948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 - 检索：先从知识库中</a:t>
            </a:r>
            <a:endParaRPr lang="en-US" sz="3120" dirty="0"/>
          </a:p>
        </p:txBody>
      </p:sp>
      <p:sp>
        <p:nvSpPr>
          <p:cNvPr id="10" name="Text 7"/>
          <p:cNvSpPr/>
          <p:nvPr/>
        </p:nvSpPr>
        <p:spPr>
          <a:xfrm>
            <a:off x="5864047" y="2580483"/>
            <a:ext cx="2445197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检索相关资料</a:t>
            </a:r>
            <a:endParaRPr lang="en-US" sz="3120" dirty="0"/>
          </a:p>
        </p:txBody>
      </p:sp>
      <p:sp>
        <p:nvSpPr>
          <p:cNvPr id="11" name="Shape 8"/>
          <p:cNvSpPr/>
          <p:nvPr/>
        </p:nvSpPr>
        <p:spPr>
          <a:xfrm>
            <a:off x="822960" y="3366272"/>
            <a:ext cx="11887200" cy="13980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366272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79602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70" dirty="0"/>
          </a:p>
        </p:txBody>
      </p:sp>
      <p:sp>
        <p:nvSpPr>
          <p:cNvPr id="14" name="Text 11"/>
          <p:cNvSpPr/>
          <p:nvPr/>
        </p:nvSpPr>
        <p:spPr>
          <a:xfrm>
            <a:off x="1752630" y="3632911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纵向看节奏</a:t>
            </a:r>
            <a:endParaRPr lang="en-US" sz="1716" dirty="0"/>
          </a:p>
        </p:txBody>
      </p:sp>
      <p:sp>
        <p:nvSpPr>
          <p:cNvPr id="15" name="Text 12"/>
          <p:cNvSpPr/>
          <p:nvPr/>
        </p:nvSpPr>
        <p:spPr>
          <a:xfrm>
            <a:off x="1752630" y="3978509"/>
            <a:ext cx="4578949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- 增强：将检索结果作为</a:t>
            </a:r>
            <a:endParaRPr lang="en-US" sz="3120" dirty="0"/>
          </a:p>
        </p:txBody>
      </p:sp>
      <p:sp>
        <p:nvSpPr>
          <p:cNvPr id="16" name="Text 13"/>
          <p:cNvSpPr/>
          <p:nvPr/>
        </p:nvSpPr>
        <p:spPr>
          <a:xfrm>
            <a:off x="6240048" y="3978509"/>
            <a:ext cx="2052919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上下文增强</a:t>
            </a:r>
            <a:endParaRPr lang="en-US" sz="3120" dirty="0"/>
          </a:p>
        </p:txBody>
      </p:sp>
      <p:sp>
        <p:nvSpPr>
          <p:cNvPr id="17" name="Text 14"/>
          <p:cNvSpPr/>
          <p:nvPr/>
        </p:nvSpPr>
        <p:spPr>
          <a:xfrm>
            <a:off x="8201528" y="3978509"/>
            <a:ext cx="2052919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提供给模型</a:t>
            </a:r>
            <a:endParaRPr lang="en-US" sz="3120" dirty="0"/>
          </a:p>
        </p:txBody>
      </p:sp>
      <p:sp>
        <p:nvSpPr>
          <p:cNvPr id="18" name="Shape 15"/>
          <p:cNvSpPr/>
          <p:nvPr/>
        </p:nvSpPr>
        <p:spPr>
          <a:xfrm>
            <a:off x="822960" y="4764298"/>
            <a:ext cx="11887200" cy="13980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764298"/>
            <a:ext cx="1188720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977628"/>
            <a:ext cx="576340" cy="4922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70"/>
              </a:lnSpc>
              <a:buNone/>
            </a:pPr>
            <a:r>
              <a:rPr lang="en-US" sz="287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70" dirty="0"/>
          </a:p>
        </p:txBody>
      </p:sp>
      <p:sp>
        <p:nvSpPr>
          <p:cNvPr id="21" name="Text 18"/>
          <p:cNvSpPr/>
          <p:nvPr/>
        </p:nvSpPr>
        <p:spPr>
          <a:xfrm>
            <a:off x="1752630" y="5031029"/>
            <a:ext cx="1294486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结构看分层</a:t>
            </a:r>
            <a:endParaRPr lang="en-US" sz="1716" dirty="0"/>
          </a:p>
        </p:txBody>
      </p:sp>
      <p:sp>
        <p:nvSpPr>
          <p:cNvPr id="22" name="Text 19"/>
          <p:cNvSpPr/>
          <p:nvPr/>
        </p:nvSpPr>
        <p:spPr>
          <a:xfrm>
            <a:off x="1752630" y="5376535"/>
            <a:ext cx="5393497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 - 生成：模型基于增强上下文</a:t>
            </a:r>
            <a:endParaRPr lang="en-US" sz="3120" dirty="0"/>
          </a:p>
        </p:txBody>
      </p:sp>
      <p:sp>
        <p:nvSpPr>
          <p:cNvPr id="23" name="Text 20"/>
          <p:cNvSpPr/>
          <p:nvPr/>
        </p:nvSpPr>
        <p:spPr>
          <a:xfrm>
            <a:off x="7054687" y="5376535"/>
            <a:ext cx="1660550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69"/>
              </a:lnSpc>
              <a:buNone/>
            </a:pPr>
            <a:r>
              <a:rPr lang="en-US" sz="3120" b="1" spc="-39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生成回答</a:t>
            </a:r>
            <a:endParaRPr lang="en-US" sz="3120" dirty="0"/>
          </a:p>
        </p:txBody>
      </p:sp>
      <p:sp>
        <p:nvSpPr>
          <p:cNvPr id="24" name="Shape 21"/>
          <p:cNvSpPr/>
          <p:nvPr/>
        </p:nvSpPr>
        <p:spPr>
          <a:xfrm>
            <a:off x="822960" y="6638544"/>
            <a:ext cx="487650" cy="2286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463040" y="6469289"/>
            <a:ext cx="705502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12" spc="48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 = 给大模型配了一个可搜索的图书馆，回答前先查资料</a:t>
            </a:r>
            <a:endParaRPr lang="en-US" sz="211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方案选型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575865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vs 微调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229021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该选哪个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28892"/>
            <a:ext cx="9540210" cy="368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提示工程是基础，RAG管知识，微调管风格</a:t>
            </a:r>
            <a:endParaRPr lang="en-US" sz="1920" dirty="0"/>
          </a:p>
        </p:txBody>
      </p:sp>
      <p:sp>
        <p:nvSpPr>
          <p:cNvPr id="11" name="Text 8"/>
          <p:cNvSpPr/>
          <p:nvPr/>
        </p:nvSpPr>
        <p:spPr>
          <a:xfrm>
            <a:off x="883950" y="2688702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维度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5011095" y="2614544"/>
            <a:ext cx="106683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提示工程</a:t>
            </a:r>
            <a:endParaRPr lang="en-US" sz="192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863" y="2296790"/>
            <a:ext cx="2360889" cy="803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4666" y="2612441"/>
            <a:ext cx="581284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2FE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endParaRPr lang="en-US" sz="1920" dirty="0"/>
          </a:p>
        </p:txBody>
      </p:sp>
      <p:sp>
        <p:nvSpPr>
          <p:cNvPr id="15" name="Text 11"/>
          <p:cNvSpPr/>
          <p:nvPr/>
        </p:nvSpPr>
        <p:spPr>
          <a:xfrm>
            <a:off x="9976561" y="2614544"/>
            <a:ext cx="57909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微调</a:t>
            </a:r>
            <a:endParaRPr lang="en-US" sz="1920" dirty="0"/>
          </a:p>
        </p:txBody>
      </p:sp>
      <p:sp>
        <p:nvSpPr>
          <p:cNvPr id="16" name="Text 12"/>
          <p:cNvSpPr/>
          <p:nvPr/>
        </p:nvSpPr>
        <p:spPr>
          <a:xfrm>
            <a:off x="12020428" y="2614544"/>
            <a:ext cx="121286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RAG+微调</a:t>
            </a:r>
            <a:endParaRPr lang="en-US" sz="1920" dirty="0"/>
          </a:p>
        </p:txBody>
      </p:sp>
      <p:sp>
        <p:nvSpPr>
          <p:cNvPr id="17" name="Shape 13"/>
          <p:cNvSpPr/>
          <p:nvPr/>
        </p:nvSpPr>
        <p:spPr>
          <a:xfrm>
            <a:off x="822960" y="3100182"/>
            <a:ext cx="3541197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3100182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3950" y="3376148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60" dirty="0"/>
          </a:p>
        </p:txBody>
      </p:sp>
      <p:sp>
        <p:nvSpPr>
          <p:cNvPr id="20" name="Text 16"/>
          <p:cNvSpPr/>
          <p:nvPr/>
        </p:nvSpPr>
        <p:spPr>
          <a:xfrm>
            <a:off x="1325880" y="3355116"/>
            <a:ext cx="51937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原理</a:t>
            </a:r>
            <a:endParaRPr lang="en-US" sz="1680" dirty="0"/>
          </a:p>
        </p:txBody>
      </p:sp>
      <p:sp>
        <p:nvSpPr>
          <p:cNvPr id="21" name="Shape 17"/>
          <p:cNvSpPr/>
          <p:nvPr/>
        </p:nvSpPr>
        <p:spPr>
          <a:xfrm>
            <a:off x="4364157" y="3100182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64157" y="310018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46405" y="33075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51013" y="33075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4863" y="3100182"/>
            <a:ext cx="2360889" cy="803392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24863" y="3100182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07112" y="33075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811811" y="33075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085753" y="3100182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085753" y="310018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068001" y="33075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172700" y="33075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1446551" y="3100182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446551" y="3100182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428799" y="33075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2533498" y="33075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822960" y="3903574"/>
            <a:ext cx="3541197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22960" y="3903574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3950" y="4179448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60" dirty="0"/>
          </a:p>
        </p:txBody>
      </p:sp>
      <p:sp>
        <p:nvSpPr>
          <p:cNvPr id="40" name="Text 36"/>
          <p:cNvSpPr/>
          <p:nvPr/>
        </p:nvSpPr>
        <p:spPr>
          <a:xfrm>
            <a:off x="1325880" y="4158417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知识更新</a:t>
            </a:r>
            <a:endParaRPr lang="en-US" sz="1680" dirty="0"/>
          </a:p>
        </p:txBody>
      </p:sp>
      <p:sp>
        <p:nvSpPr>
          <p:cNvPr id="41" name="Shape 37"/>
          <p:cNvSpPr/>
          <p:nvPr/>
        </p:nvSpPr>
        <p:spPr>
          <a:xfrm>
            <a:off x="4364157" y="3903574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364157" y="39035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346405" y="41108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51013" y="41108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6724863" y="3903574"/>
            <a:ext cx="2360889" cy="803300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724863" y="3903574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707112" y="41108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811811" y="41108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9085753" y="3903574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085753" y="39035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0068001" y="41108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0172700" y="41108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53" name="Shape 49"/>
          <p:cNvSpPr/>
          <p:nvPr/>
        </p:nvSpPr>
        <p:spPr>
          <a:xfrm>
            <a:off x="11446551" y="3903574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1446551" y="39035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2428799" y="4110868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2533498" y="4110868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822960" y="4706874"/>
            <a:ext cx="3541197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22960" y="4706874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83950" y="4982840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60" dirty="0"/>
          </a:p>
        </p:txBody>
      </p:sp>
      <p:sp>
        <p:nvSpPr>
          <p:cNvPr id="60" name="Text 56"/>
          <p:cNvSpPr/>
          <p:nvPr/>
        </p:nvSpPr>
        <p:spPr>
          <a:xfrm>
            <a:off x="1325880" y="4961809"/>
            <a:ext cx="51937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</a:t>
            </a:r>
            <a:endParaRPr lang="en-US" sz="1680" dirty="0"/>
          </a:p>
        </p:txBody>
      </p:sp>
      <p:sp>
        <p:nvSpPr>
          <p:cNvPr id="61" name="Shape 57"/>
          <p:cNvSpPr/>
          <p:nvPr/>
        </p:nvSpPr>
        <p:spPr>
          <a:xfrm>
            <a:off x="4364157" y="4706874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364157" y="47068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346405" y="4914260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451013" y="4914260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6724863" y="4706874"/>
            <a:ext cx="2360889" cy="803392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724863" y="4706874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7707112" y="4914260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811811" y="4914260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9085753" y="4706874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9085753" y="47068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068001" y="4914260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172700" y="4914260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73" name="Shape 69"/>
          <p:cNvSpPr/>
          <p:nvPr/>
        </p:nvSpPr>
        <p:spPr>
          <a:xfrm>
            <a:off x="11446551" y="4706874"/>
            <a:ext cx="2360798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1446551" y="4706874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2428799" y="4914260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12533498" y="4914260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77" name="Shape 73"/>
          <p:cNvSpPr/>
          <p:nvPr/>
        </p:nvSpPr>
        <p:spPr>
          <a:xfrm>
            <a:off x="822960" y="5510357"/>
            <a:ext cx="3541197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22960" y="5510357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883950" y="5786232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60" dirty="0"/>
          </a:p>
        </p:txBody>
      </p:sp>
      <p:sp>
        <p:nvSpPr>
          <p:cNvPr id="80" name="Text 76"/>
          <p:cNvSpPr/>
          <p:nvPr/>
        </p:nvSpPr>
        <p:spPr>
          <a:xfrm>
            <a:off x="1325880" y="5765200"/>
            <a:ext cx="73152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可控性</a:t>
            </a:r>
            <a:endParaRPr lang="en-US" sz="1680" dirty="0"/>
          </a:p>
        </p:txBody>
      </p:sp>
      <p:sp>
        <p:nvSpPr>
          <p:cNvPr id="81" name="Shape 77"/>
          <p:cNvSpPr/>
          <p:nvPr/>
        </p:nvSpPr>
        <p:spPr>
          <a:xfrm>
            <a:off x="4364157" y="5510357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4364157" y="551035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5346405" y="571765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5451013" y="571765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85" name="Shape 81"/>
          <p:cNvSpPr/>
          <p:nvPr/>
        </p:nvSpPr>
        <p:spPr>
          <a:xfrm>
            <a:off x="6724863" y="5510357"/>
            <a:ext cx="2360889" cy="803300"/>
          </a:xfrm>
          <a:prstGeom prst="rect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724863" y="5510357"/>
            <a:ext cx="2360889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7707112" y="571765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811811" y="571765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89" name="Shape 85"/>
          <p:cNvSpPr/>
          <p:nvPr/>
        </p:nvSpPr>
        <p:spPr>
          <a:xfrm>
            <a:off x="9085753" y="5510357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9085753" y="551035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0068001" y="571765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10172700" y="571765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93" name="Shape 89"/>
          <p:cNvSpPr/>
          <p:nvPr/>
        </p:nvSpPr>
        <p:spPr>
          <a:xfrm>
            <a:off x="11446551" y="5510357"/>
            <a:ext cx="2360798" cy="803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11446551" y="5510357"/>
            <a:ext cx="2360798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2428799" y="5717652"/>
            <a:ext cx="396210" cy="396210"/>
          </a:xfrm>
          <a:prstGeom prst="ellipse">
            <a:avLst/>
          </a:prstGeom>
          <a:solidFill>
            <a:srgbClr val="FFFFFF">
              <a:alpha val="2000"/>
            </a:srgbClr>
          </a:solidFill>
          <a:ln w="9525">
            <a:solidFill>
              <a:srgbClr val="EEF3F1">
                <a:alpha val="3400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2533498" y="5717652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97" name="Shape 93"/>
          <p:cNvSpPr/>
          <p:nvPr/>
        </p:nvSpPr>
        <p:spPr>
          <a:xfrm>
            <a:off x="822960" y="6313658"/>
            <a:ext cx="3541197" cy="803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22960" y="6313658"/>
            <a:ext cx="3541197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883950" y="6589624"/>
            <a:ext cx="36332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560" dirty="0"/>
          </a:p>
        </p:txBody>
      </p:sp>
      <p:sp>
        <p:nvSpPr>
          <p:cNvPr id="100" name="Text 96"/>
          <p:cNvSpPr/>
          <p:nvPr/>
        </p:nvSpPr>
        <p:spPr>
          <a:xfrm>
            <a:off x="1325880" y="6568592"/>
            <a:ext cx="519379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类比</a:t>
            </a:r>
            <a:endParaRPr lang="en-US" sz="1680" dirty="0"/>
          </a:p>
        </p:txBody>
      </p:sp>
      <p:pic>
        <p:nvPicPr>
          <p:cNvPr id="10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57" y="6313658"/>
            <a:ext cx="2360798" cy="803392"/>
          </a:xfrm>
          <a:prstGeom prst="rect">
            <a:avLst/>
          </a:prstGeom>
        </p:spPr>
      </p:pic>
      <p:sp>
        <p:nvSpPr>
          <p:cNvPr id="102" name="Text 97"/>
          <p:cNvSpPr/>
          <p:nvPr/>
        </p:nvSpPr>
        <p:spPr>
          <a:xfrm>
            <a:off x="5451013" y="652104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0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863" y="6313658"/>
            <a:ext cx="2360889" cy="803392"/>
          </a:xfrm>
          <a:prstGeom prst="rect">
            <a:avLst/>
          </a:prstGeom>
        </p:spPr>
      </p:pic>
      <p:sp>
        <p:nvSpPr>
          <p:cNvPr id="104" name="Text 98"/>
          <p:cNvSpPr/>
          <p:nvPr/>
        </p:nvSpPr>
        <p:spPr>
          <a:xfrm>
            <a:off x="7811811" y="652104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0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753" y="6313658"/>
            <a:ext cx="2360798" cy="803392"/>
          </a:xfrm>
          <a:prstGeom prst="rect">
            <a:avLst/>
          </a:prstGeom>
        </p:spPr>
      </p:pic>
      <p:sp>
        <p:nvSpPr>
          <p:cNvPr id="106" name="Text 99"/>
          <p:cNvSpPr/>
          <p:nvPr/>
        </p:nvSpPr>
        <p:spPr>
          <a:xfrm>
            <a:off x="10172700" y="652104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pic>
        <p:nvPicPr>
          <p:cNvPr id="1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6551" y="6313658"/>
            <a:ext cx="2360798" cy="803392"/>
          </a:xfrm>
          <a:prstGeom prst="rect">
            <a:avLst/>
          </a:prstGeom>
        </p:spPr>
      </p:pic>
      <p:sp>
        <p:nvSpPr>
          <p:cNvPr id="108" name="Text 100"/>
          <p:cNvSpPr/>
          <p:nvPr/>
        </p:nvSpPr>
        <p:spPr>
          <a:xfrm>
            <a:off x="12533498" y="6521044"/>
            <a:ext cx="27825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800" dirty="0"/>
          </a:p>
        </p:txBody>
      </p:sp>
      <p:sp>
        <p:nvSpPr>
          <p:cNvPr id="109" name="Shape 101"/>
          <p:cNvSpPr/>
          <p:nvPr/>
        </p:nvSpPr>
        <p:spPr>
          <a:xfrm>
            <a:off x="822960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/>
            </a:solidFill>
            <a:prstDash val="solid"/>
          </a:ln>
        </p:spPr>
      </p:sp>
      <p:sp>
        <p:nvSpPr>
          <p:cNvPr id="110" name="Text 102"/>
          <p:cNvSpPr/>
          <p:nvPr/>
        </p:nvSpPr>
        <p:spPr>
          <a:xfrm>
            <a:off x="899495" y="7284750"/>
            <a:ext cx="2126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FE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</a:t>
            </a:r>
            <a:endParaRPr lang="en-US" sz="1320" dirty="0"/>
          </a:p>
        </p:txBody>
      </p:sp>
      <p:sp>
        <p:nvSpPr>
          <p:cNvPr id="111" name="Text 103"/>
          <p:cNvSpPr/>
          <p:nvPr/>
        </p:nvSpPr>
        <p:spPr>
          <a:xfrm>
            <a:off x="1188720" y="7284750"/>
            <a:ext cx="3028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优</a:t>
            </a:r>
            <a:endParaRPr lang="en-US" sz="1584" dirty="0"/>
          </a:p>
        </p:txBody>
      </p:sp>
      <p:sp>
        <p:nvSpPr>
          <p:cNvPr id="112" name="Shape 104"/>
          <p:cNvSpPr/>
          <p:nvPr/>
        </p:nvSpPr>
        <p:spPr>
          <a:xfrm>
            <a:off x="1653327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113" name="Text 105"/>
          <p:cNvSpPr/>
          <p:nvPr/>
        </p:nvSpPr>
        <p:spPr>
          <a:xfrm>
            <a:off x="1706636" y="7284750"/>
            <a:ext cx="2590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4EA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◐</a:t>
            </a:r>
            <a:endParaRPr lang="en-US" sz="1320" dirty="0"/>
          </a:p>
        </p:txBody>
      </p:sp>
      <p:sp>
        <p:nvSpPr>
          <p:cNvPr id="114" name="Text 106"/>
          <p:cNvSpPr/>
          <p:nvPr/>
        </p:nvSpPr>
        <p:spPr>
          <a:xfrm>
            <a:off x="2019087" y="7284750"/>
            <a:ext cx="3028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中</a:t>
            </a:r>
            <a:endParaRPr lang="en-US" sz="1584" dirty="0"/>
          </a:p>
        </p:txBody>
      </p:sp>
      <p:sp>
        <p:nvSpPr>
          <p:cNvPr id="115" name="Shape 107"/>
          <p:cNvSpPr/>
          <p:nvPr/>
        </p:nvSpPr>
        <p:spPr>
          <a:xfrm>
            <a:off x="2483602" y="7284750"/>
            <a:ext cx="274320" cy="2743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16" name="Text 108"/>
          <p:cNvSpPr/>
          <p:nvPr/>
        </p:nvSpPr>
        <p:spPr>
          <a:xfrm>
            <a:off x="2552182" y="7284750"/>
            <a:ext cx="22850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</a:t>
            </a:r>
            <a:endParaRPr lang="en-US" sz="1320" dirty="0"/>
          </a:p>
        </p:txBody>
      </p:sp>
      <p:sp>
        <p:nvSpPr>
          <p:cNvPr id="117" name="Text 109"/>
          <p:cNvSpPr/>
          <p:nvPr/>
        </p:nvSpPr>
        <p:spPr>
          <a:xfrm>
            <a:off x="2849362" y="7284750"/>
            <a:ext cx="3028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低</a:t>
            </a:r>
            <a:endParaRPr lang="en-US" sz="15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架构总览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55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两条核心链路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271613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RAG系统架构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759433"/>
            <a:ext cx="9028146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离线把知识存进去，在线把知识找出来并生成回答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822960" y="2433950"/>
            <a:ext cx="6377940" cy="4363060"/>
          </a:xfrm>
          <a:prstGeom prst="roundRect">
            <a:avLst>
              <a:gd name="adj" fmla="val 6377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33950"/>
            <a:ext cx="6377940" cy="436306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1104870" y="27121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离线阶段</a:t>
            </a:r>
            <a:endParaRPr lang="en-US" sz="1584" dirty="0"/>
          </a:p>
        </p:txBody>
      </p:sp>
      <p:sp>
        <p:nvSpPr>
          <p:cNvPr id="14" name="Text 10"/>
          <p:cNvSpPr/>
          <p:nvPr/>
        </p:nvSpPr>
        <p:spPr>
          <a:xfrm>
            <a:off x="6635435" y="27006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104870" y="3137132"/>
            <a:ext cx="590547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数据接入链路</a:t>
            </a:r>
            <a:endParaRPr lang="en-US" sz="2520" dirty="0"/>
          </a:p>
        </p:txBody>
      </p:sp>
      <p:sp>
        <p:nvSpPr>
          <p:cNvPr id="16" name="Text 12"/>
          <p:cNvSpPr/>
          <p:nvPr/>
        </p:nvSpPr>
        <p:spPr>
          <a:xfrm>
            <a:off x="1104870" y="3626053"/>
            <a:ext cx="590547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文档解析→分块→Embedding→向量库</a:t>
            </a:r>
            <a:endParaRPr lang="en-US" sz="1680" dirty="0"/>
          </a:p>
        </p:txBody>
      </p:sp>
      <p:sp>
        <p:nvSpPr>
          <p:cNvPr id="17" name="Shape 13"/>
          <p:cNvSpPr/>
          <p:nvPr/>
        </p:nvSpPr>
        <p:spPr>
          <a:xfrm>
            <a:off x="7429500" y="2433950"/>
            <a:ext cx="6377940" cy="4363060"/>
          </a:xfrm>
          <a:prstGeom prst="roundRect">
            <a:avLst>
              <a:gd name="adj" fmla="val 6377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2433950"/>
            <a:ext cx="6377940" cy="4363060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9" name="Text 14"/>
          <p:cNvSpPr/>
          <p:nvPr/>
        </p:nvSpPr>
        <p:spPr>
          <a:xfrm>
            <a:off x="7711410" y="2712110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在线阶段</a:t>
            </a:r>
            <a:endParaRPr lang="en-US" sz="1584" dirty="0"/>
          </a:p>
        </p:txBody>
      </p:sp>
      <p:sp>
        <p:nvSpPr>
          <p:cNvPr id="20" name="Text 15"/>
          <p:cNvSpPr/>
          <p:nvPr/>
        </p:nvSpPr>
        <p:spPr>
          <a:xfrm>
            <a:off x="13241975" y="2700680"/>
            <a:ext cx="40233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EF3F1">
                    <a:alpha val="34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711410" y="3137132"/>
            <a:ext cx="5905470" cy="3793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检索问答链路</a:t>
            </a:r>
            <a:endParaRPr lang="en-US" sz="2520" dirty="0"/>
          </a:p>
        </p:txBody>
      </p:sp>
      <p:sp>
        <p:nvSpPr>
          <p:cNvPr id="22" name="Text 17"/>
          <p:cNvSpPr/>
          <p:nvPr/>
        </p:nvSpPr>
        <p:spPr>
          <a:xfrm>
            <a:off x="7711410" y="3626053"/>
            <a:ext cx="590547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query向量化→检索→重排→LLM生成</a:t>
            </a:r>
            <a:endParaRPr lang="en-US" sz="1680" dirty="0"/>
          </a:p>
        </p:txBody>
      </p:sp>
      <p:sp>
        <p:nvSpPr>
          <p:cNvPr id="23" name="Shape 18"/>
          <p:cNvSpPr/>
          <p:nvPr/>
        </p:nvSpPr>
        <p:spPr>
          <a:xfrm>
            <a:off x="4069080" y="7277070"/>
            <a:ext cx="6492240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1450" dist="12700" dir="16200000">
              <a:srgbClr val="2FE07F">
                <a:alpha val="7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9291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0485150" y="7216170"/>
            <a:ext cx="152430" cy="152430"/>
          </a:xfrm>
          <a:prstGeom prst="ellipse">
            <a:avLst/>
          </a:prstGeom>
          <a:solidFill>
            <a:srgbClr val="07090B"/>
          </a:solidFill>
          <a:ln w="38100">
            <a:solidFill>
              <a:srgbClr val="2FE07F"/>
            </a:solidFill>
            <a:prstDash val="solid"/>
          </a:ln>
          <a:effectLst>
            <a:outerShdw sx="100000" sy="100000" kx="0" ky="0" algn="bl" rotWithShape="0" blurRad="190500" dist="12700" dir="16200000">
              <a:srgbClr val="2FE07F">
                <a:alpha val="70000"/>
              </a:srgbClr>
            </a:outerShdw>
          </a:effectLst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完整流程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404061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六步走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135581" y="1040221"/>
            <a:ext cx="271613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RAG流程详解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>
            <a:off x="822960" y="1940265"/>
            <a:ext cx="227630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SECTIONS · 章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>
            <a:off x="822960" y="2214585"/>
            <a:ext cx="3035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8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节</a:t>
            </a:r>
            <a:endParaRPr lang="en-US" sz="1584" dirty="0"/>
          </a:p>
        </p:txBody>
      </p:sp>
      <p:sp>
        <p:nvSpPr>
          <p:cNvPr id="12" name="Text 9"/>
          <p:cNvSpPr/>
          <p:nvPr/>
        </p:nvSpPr>
        <p:spPr>
          <a:xfrm>
            <a:off x="822960" y="2438888"/>
            <a:ext cx="1572768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20"/>
              </a:lnSpc>
              <a:buNone/>
            </a:pPr>
            <a:r>
              <a:rPr lang="en-US" sz="9000" b="1" spc="-200" kern="0" dirty="0">
                <a:solidFill>
                  <a:srgbClr val="2FE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9000" dirty="0"/>
          </a:p>
        </p:txBody>
      </p:sp>
      <p:sp>
        <p:nvSpPr>
          <p:cNvPr id="13" name="Text 10"/>
          <p:cNvSpPr/>
          <p:nvPr/>
        </p:nvSpPr>
        <p:spPr>
          <a:xfrm>
            <a:off x="2255550" y="3145947"/>
            <a:ext cx="32918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6949440"/>
            <a:ext cx="1996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从文档加载到生成回答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7261890"/>
            <a:ext cx="14249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的完整技术链路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549" y="224485"/>
            <a:ext cx="8437900" cy="520284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93790" y="254891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720" dirty="0"/>
          </a:p>
        </p:txBody>
      </p:sp>
      <p:sp>
        <p:nvSpPr>
          <p:cNvPr id="18" name="Text 14"/>
          <p:cNvSpPr/>
          <p:nvPr/>
        </p:nvSpPr>
        <p:spPr>
          <a:xfrm>
            <a:off x="5093940" y="253890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文档加载</a:t>
            </a:r>
            <a:endParaRPr lang="en-US" sz="1980" dirty="0"/>
          </a:p>
        </p:txBody>
      </p:sp>
      <p:sp>
        <p:nvSpPr>
          <p:cNvPr id="19" name="Text 15"/>
          <p:cNvSpPr/>
          <p:nvPr/>
        </p:nvSpPr>
        <p:spPr>
          <a:xfrm>
            <a:off x="5093940" y="2869570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读取PDF/Word/HTML等源文件</a:t>
            </a:r>
            <a:endParaRPr lang="en-US" sz="144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7340346" y="479511"/>
            <a:ext cx="7290054" cy="469270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52560" y="254891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720" dirty="0"/>
          </a:p>
        </p:txBody>
      </p:sp>
      <p:sp>
        <p:nvSpPr>
          <p:cNvPr id="22" name="Text 17"/>
          <p:cNvSpPr/>
          <p:nvPr/>
        </p:nvSpPr>
        <p:spPr>
          <a:xfrm>
            <a:off x="10252710" y="253890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文本分块</a:t>
            </a:r>
            <a:endParaRPr lang="en-US" sz="1980" dirty="0"/>
          </a:p>
        </p:txBody>
      </p:sp>
      <p:sp>
        <p:nvSpPr>
          <p:cNvPr id="23" name="Text 18"/>
          <p:cNvSpPr/>
          <p:nvPr/>
        </p:nvSpPr>
        <p:spPr>
          <a:xfrm>
            <a:off x="10252710" y="2869570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切分为语义完整的文本块</a:t>
            </a:r>
            <a:endParaRPr lang="en-US" sz="144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>
            <a:alphaModFix amt="84000"/>
          </a:blip>
          <a:stretch>
            <a:fillRect/>
          </a:stretch>
        </p:blipFill>
        <p:spPr>
          <a:xfrm>
            <a:off x="2181667" y="2403226"/>
            <a:ext cx="7927757" cy="469270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93790" y="4472626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720" dirty="0"/>
          </a:p>
        </p:txBody>
      </p:sp>
      <p:sp>
        <p:nvSpPr>
          <p:cNvPr id="26" name="Text 20"/>
          <p:cNvSpPr/>
          <p:nvPr/>
        </p:nvSpPr>
        <p:spPr>
          <a:xfrm>
            <a:off x="5093940" y="446262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向量化</a:t>
            </a:r>
            <a:endParaRPr lang="en-US" sz="1980" dirty="0"/>
          </a:p>
        </p:txBody>
      </p:sp>
      <p:sp>
        <p:nvSpPr>
          <p:cNvPr id="27" name="Text 21"/>
          <p:cNvSpPr/>
          <p:nvPr/>
        </p:nvSpPr>
        <p:spPr>
          <a:xfrm>
            <a:off x="5093940" y="4793193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用Embedding转为高维向量</a:t>
            </a:r>
            <a:endParaRPr lang="en-US" sz="144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>
            <a:alphaModFix amt="84000"/>
          </a:blip>
          <a:stretch>
            <a:fillRect/>
          </a:stretch>
        </p:blipFill>
        <p:spPr>
          <a:xfrm>
            <a:off x="7340346" y="2403226"/>
            <a:ext cx="7290054" cy="469270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52560" y="4472626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720" dirty="0"/>
          </a:p>
        </p:txBody>
      </p:sp>
      <p:sp>
        <p:nvSpPr>
          <p:cNvPr id="30" name="Text 23"/>
          <p:cNvSpPr/>
          <p:nvPr/>
        </p:nvSpPr>
        <p:spPr>
          <a:xfrm>
            <a:off x="10252710" y="4462620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向量存储</a:t>
            </a:r>
            <a:endParaRPr lang="en-US" sz="1980" dirty="0"/>
          </a:p>
        </p:txBody>
      </p:sp>
      <p:sp>
        <p:nvSpPr>
          <p:cNvPr id="31" name="Text 24"/>
          <p:cNvSpPr/>
          <p:nvPr/>
        </p:nvSpPr>
        <p:spPr>
          <a:xfrm>
            <a:off x="10252710" y="4793193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存入Milvus/Chroma等向量库</a:t>
            </a:r>
            <a:endParaRPr lang="en-US" sz="144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>
            <a:alphaModFix amt="84000"/>
          </a:blip>
          <a:stretch>
            <a:fillRect/>
          </a:stretch>
        </p:blipFill>
        <p:spPr>
          <a:xfrm>
            <a:off x="2181667" y="4326941"/>
            <a:ext cx="7927757" cy="390265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893790" y="639634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720" dirty="0"/>
          </a:p>
        </p:txBody>
      </p:sp>
      <p:sp>
        <p:nvSpPr>
          <p:cNvPr id="34" name="Text 26"/>
          <p:cNvSpPr/>
          <p:nvPr/>
        </p:nvSpPr>
        <p:spPr>
          <a:xfrm>
            <a:off x="5093940" y="638633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检索+重排</a:t>
            </a:r>
            <a:endParaRPr lang="en-US" sz="1980" dirty="0"/>
          </a:p>
        </p:txBody>
      </p:sp>
      <p:sp>
        <p:nvSpPr>
          <p:cNvPr id="35" name="Text 27"/>
          <p:cNvSpPr/>
          <p:nvPr/>
        </p:nvSpPr>
        <p:spPr>
          <a:xfrm>
            <a:off x="5093940" y="671690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向量检索+BM25+Reranker精排</a:t>
            </a:r>
            <a:endParaRPr lang="en-US" sz="144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>
            <a:alphaModFix amt="84000"/>
          </a:blip>
          <a:stretch>
            <a:fillRect/>
          </a:stretch>
        </p:blipFill>
        <p:spPr>
          <a:xfrm>
            <a:off x="7340346" y="4326941"/>
            <a:ext cx="7290054" cy="390265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052560" y="6396341"/>
            <a:ext cx="714451" cy="62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3720" dirty="0"/>
          </a:p>
        </p:txBody>
      </p:sp>
      <p:sp>
        <p:nvSpPr>
          <p:cNvPr id="38" name="Text 29"/>
          <p:cNvSpPr/>
          <p:nvPr/>
        </p:nvSpPr>
        <p:spPr>
          <a:xfrm>
            <a:off x="10252710" y="6386335"/>
            <a:ext cx="3394710" cy="314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生成回答</a:t>
            </a:r>
            <a:endParaRPr lang="en-US" sz="1980" dirty="0"/>
          </a:p>
        </p:txBody>
      </p:sp>
      <p:sp>
        <p:nvSpPr>
          <p:cNvPr id="39" name="Text 30"/>
          <p:cNvSpPr/>
          <p:nvPr/>
        </p:nvSpPr>
        <p:spPr>
          <a:xfrm>
            <a:off x="10252710" y="6716908"/>
            <a:ext cx="3394710" cy="2724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3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组装prompt调用LLM生成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分块策略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三种分块策略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对比评估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894545"/>
            <a:ext cx="1298448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286843"/>
            <a:ext cx="1298448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6290" y="1894545"/>
            <a:ext cx="52797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44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策略</a:t>
            </a:r>
            <a:endParaRPr lang="en-US" sz="1584" dirty="0"/>
          </a:p>
        </p:txBody>
      </p:sp>
      <p:sp>
        <p:nvSpPr>
          <p:cNvPr id="13" name="Text 10"/>
          <p:cNvSpPr/>
          <p:nvPr/>
        </p:nvSpPr>
        <p:spPr>
          <a:xfrm>
            <a:off x="4030035" y="1894545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实现难度</a:t>
            </a:r>
            <a:endParaRPr lang="en-US" sz="1584" dirty="0"/>
          </a:p>
        </p:txBody>
      </p:sp>
      <p:sp>
        <p:nvSpPr>
          <p:cNvPr id="14" name="Text 11"/>
          <p:cNvSpPr/>
          <p:nvPr/>
        </p:nvSpPr>
        <p:spPr>
          <a:xfrm>
            <a:off x="6246724" y="1894545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语义完整</a:t>
            </a:r>
            <a:endParaRPr lang="en-US" sz="1584" dirty="0"/>
          </a:p>
        </p:txBody>
      </p:sp>
      <p:sp>
        <p:nvSpPr>
          <p:cNvPr id="15" name="Text 12"/>
          <p:cNvSpPr/>
          <p:nvPr/>
        </p:nvSpPr>
        <p:spPr>
          <a:xfrm>
            <a:off x="8463595" y="1894545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检索效果</a:t>
            </a:r>
            <a:endParaRPr lang="en-US" sz="1584" dirty="0"/>
          </a:p>
        </p:txBody>
      </p:sp>
      <p:sp>
        <p:nvSpPr>
          <p:cNvPr id="16" name="Text 13"/>
          <p:cNvSpPr/>
          <p:nvPr/>
        </p:nvSpPr>
        <p:spPr>
          <a:xfrm>
            <a:off x="10680375" y="1894545"/>
            <a:ext cx="95422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适用场景</a:t>
            </a:r>
            <a:endParaRPr lang="en-US" sz="1584" dirty="0"/>
          </a:p>
        </p:txBody>
      </p:sp>
      <p:sp>
        <p:nvSpPr>
          <p:cNvPr id="17" name="Shape 14"/>
          <p:cNvSpPr/>
          <p:nvPr/>
        </p:nvSpPr>
        <p:spPr>
          <a:xfrm>
            <a:off x="822960" y="2389784"/>
            <a:ext cx="12984480" cy="16823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060504"/>
            <a:ext cx="12984480" cy="11593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6290" y="2924480"/>
            <a:ext cx="103629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固定长度</a:t>
            </a:r>
            <a:endParaRPr lang="en-US" sz="1860" dirty="0"/>
          </a:p>
        </p:txBody>
      </p:sp>
      <p:sp>
        <p:nvSpPr>
          <p:cNvPr id="20" name="Text 17"/>
          <p:cNvSpPr/>
          <p:nvPr/>
        </p:nvSpPr>
        <p:spPr>
          <a:xfrm>
            <a:off x="1036290" y="3288182"/>
            <a:ext cx="203636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63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按字符数切分，简单直接</a:t>
            </a:r>
            <a:endParaRPr lang="en-US" sz="1386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035" y="3158612"/>
            <a:ext cx="137160" cy="13716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775" y="3158612"/>
            <a:ext cx="137160" cy="13716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515" y="3158612"/>
            <a:ext cx="137160" cy="137160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255" y="3158612"/>
            <a:ext cx="137160" cy="13716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2995" y="3158612"/>
            <a:ext cx="137160" cy="13716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724" y="3158612"/>
            <a:ext cx="137160" cy="13716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2464" y="3158612"/>
            <a:ext cx="137160" cy="1371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658204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863944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7069684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3595" y="3158612"/>
            <a:ext cx="137160" cy="137160"/>
          </a:xfrm>
          <a:prstGeom prst="rect">
            <a:avLst/>
          </a:prstGeom>
        </p:spPr>
      </p:pic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9335" y="3158612"/>
            <a:ext cx="137160" cy="13716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8875075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9080815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9286555" y="3158612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10680375" y="3029041"/>
            <a:ext cx="1018733" cy="396210"/>
          </a:xfrm>
          <a:prstGeom prst="roundRect">
            <a:avLst>
              <a:gd name="adj" fmla="val 14044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10825124" y="3029041"/>
            <a:ext cx="89603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快速原型</a:t>
            </a:r>
            <a:endParaRPr lang="en-US" sz="1518" dirty="0"/>
          </a:p>
        </p:txBody>
      </p:sp>
      <p:sp>
        <p:nvSpPr>
          <p:cNvPr id="38" name="Shape 26"/>
          <p:cNvSpPr/>
          <p:nvPr/>
        </p:nvSpPr>
        <p:spPr>
          <a:xfrm>
            <a:off x="822960" y="4133179"/>
            <a:ext cx="12984480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22960" y="5804082"/>
            <a:ext cx="12984480" cy="11593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1036290" y="4667783"/>
            <a:ext cx="103629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递归分块</a:t>
            </a:r>
            <a:endParaRPr lang="en-US" sz="1860" dirty="0"/>
          </a:p>
        </p:txBody>
      </p:sp>
      <p:sp>
        <p:nvSpPr>
          <p:cNvPr id="41" name="Text 29"/>
          <p:cNvSpPr/>
          <p:nvPr/>
        </p:nvSpPr>
        <p:spPr>
          <a:xfrm>
            <a:off x="1036290" y="5031486"/>
            <a:ext cx="214718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63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按段落→行→空格逐级切分</a:t>
            </a:r>
            <a:endParaRPr lang="en-US" sz="1386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30035" y="4901916"/>
            <a:ext cx="137160" cy="137160"/>
          </a:xfrm>
          <a:prstGeom prst="rect">
            <a:avLst/>
          </a:prstGeom>
        </p:spPr>
      </p:pic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5775" y="4901916"/>
            <a:ext cx="137160" cy="137160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1515" y="4901916"/>
            <a:ext cx="137160" cy="137160"/>
          </a:xfrm>
          <a:prstGeom prst="rect">
            <a:avLst/>
          </a:prstGeom>
        </p:spPr>
      </p:pic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7255" y="4901916"/>
            <a:ext cx="137160" cy="13716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4852995" y="4901916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6724" y="4901916"/>
            <a:ext cx="137160" cy="137160"/>
          </a:xfrm>
          <a:prstGeom prst="rect">
            <a:avLst/>
          </a:prstGeom>
        </p:spPr>
      </p:pic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2464" y="4901916"/>
            <a:ext cx="137160" cy="137160"/>
          </a:xfrm>
          <a:prstGeom prst="rect">
            <a:avLst/>
          </a:prstGeom>
        </p:spPr>
      </p:pic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8204" y="4901916"/>
            <a:ext cx="137160" cy="137160"/>
          </a:xfrm>
          <a:prstGeom prst="rect">
            <a:avLst/>
          </a:prstGeom>
        </p:spPr>
      </p:pic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3944" y="4901916"/>
            <a:ext cx="137160" cy="137160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7069684" y="4901916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63595" y="4901916"/>
            <a:ext cx="137160" cy="137160"/>
          </a:xfrm>
          <a:prstGeom prst="rect">
            <a:avLst/>
          </a:prstGeom>
        </p:spPr>
      </p:pic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69335" y="4901916"/>
            <a:ext cx="137160" cy="137160"/>
          </a:xfrm>
          <a:prstGeom prst="rect">
            <a:avLst/>
          </a:prstGeom>
        </p:spPr>
      </p:pic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75075" y="4901916"/>
            <a:ext cx="137160" cy="137160"/>
          </a:xfrm>
          <a:prstGeom prst="rect">
            <a:avLst/>
          </a:prstGeom>
        </p:spPr>
      </p:pic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80815" y="4901916"/>
            <a:ext cx="137160" cy="137160"/>
          </a:xfrm>
          <a:prstGeom prst="rect">
            <a:avLst/>
          </a:prstGeom>
        </p:spPr>
      </p:pic>
      <p:sp>
        <p:nvSpPr>
          <p:cNvPr id="56" name="Shape 32"/>
          <p:cNvSpPr/>
          <p:nvPr/>
        </p:nvSpPr>
        <p:spPr>
          <a:xfrm>
            <a:off x="9286555" y="4901916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7" name="Shape 33"/>
          <p:cNvSpPr/>
          <p:nvPr/>
        </p:nvSpPr>
        <p:spPr>
          <a:xfrm>
            <a:off x="10680375" y="4772345"/>
            <a:ext cx="1018733" cy="396210"/>
          </a:xfrm>
          <a:prstGeom prst="roundRect">
            <a:avLst>
              <a:gd name="adj" fmla="val 140447"/>
            </a:avLst>
          </a:prstGeom>
          <a:solidFill>
            <a:srgbClr val="2FE07F">
              <a:alpha val="8000"/>
            </a:srgbClr>
          </a:solidFill>
          <a:ln w="9525">
            <a:solidFill>
              <a:srgbClr val="2FE07F">
                <a:alpha val="45000"/>
              </a:srgbClr>
            </a:solidFill>
            <a:prstDash val="solid"/>
          </a:ln>
        </p:spPr>
      </p:sp>
      <p:sp>
        <p:nvSpPr>
          <p:cNvPr id="58" name="Text 34"/>
          <p:cNvSpPr/>
          <p:nvPr/>
        </p:nvSpPr>
        <p:spPr>
          <a:xfrm>
            <a:off x="10825124" y="4772345"/>
            <a:ext cx="89603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通用文档</a:t>
            </a:r>
            <a:endParaRPr lang="en-US" sz="1518" dirty="0"/>
          </a:p>
        </p:txBody>
      </p:sp>
      <p:pic>
        <p:nvPicPr>
          <p:cNvPr id="5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4160794"/>
            <a:ext cx="14630400" cy="4068806"/>
          </a:xfrm>
          <a:prstGeom prst="rect">
            <a:avLst/>
          </a:prstGeom>
        </p:spPr>
      </p:pic>
      <p:sp>
        <p:nvSpPr>
          <p:cNvPr id="60" name="Text 35"/>
          <p:cNvSpPr/>
          <p:nvPr/>
        </p:nvSpPr>
        <p:spPr>
          <a:xfrm>
            <a:off x="1043970" y="6418768"/>
            <a:ext cx="103629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语义分块</a:t>
            </a:r>
            <a:endParaRPr lang="en-US" sz="1860" dirty="0"/>
          </a:p>
        </p:txBody>
      </p:sp>
      <p:sp>
        <p:nvSpPr>
          <p:cNvPr id="61" name="Text 36"/>
          <p:cNvSpPr/>
          <p:nvPr/>
        </p:nvSpPr>
        <p:spPr>
          <a:xfrm>
            <a:off x="1043970" y="6782471"/>
            <a:ext cx="238977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63" kern="0" dirty="0">
                <a:solidFill>
                  <a:srgbClr val="EAFFF4">
                    <a:alpha val="56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用Embedding检测语义边界</a:t>
            </a:r>
            <a:endParaRPr lang="en-US" sz="1386" dirty="0"/>
          </a:p>
        </p:txBody>
      </p:sp>
      <p:sp>
        <p:nvSpPr>
          <p:cNvPr id="62" name="Text 37"/>
          <p:cNvSpPr/>
          <p:nvPr/>
        </p:nvSpPr>
        <p:spPr>
          <a:xfrm>
            <a:off x="10821375" y="6523421"/>
            <a:ext cx="109644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高质量需求</a:t>
            </a:r>
            <a:endParaRPr lang="en-US" sz="151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290504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EMBEDDING与向量库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19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核心选型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2573213" y="1040221"/>
            <a:ext cx="184169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技术基建</a:t>
            </a:r>
            <a:endParaRPr lang="en-US" sz="34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791"/>
            <a:ext cx="5773247" cy="77958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9710" y="3874861"/>
            <a:ext cx="113934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创历史新高</a:t>
            </a:r>
            <a:endParaRPr lang="en-US" sz="1584" dirty="0"/>
          </a:p>
        </p:txBody>
      </p:sp>
      <p:sp>
        <p:nvSpPr>
          <p:cNvPr id="12" name="Text 8"/>
          <p:cNvSpPr/>
          <p:nvPr/>
        </p:nvSpPr>
        <p:spPr>
          <a:xfrm>
            <a:off x="1120140" y="4264002"/>
            <a:ext cx="2528621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1536</a:t>
            </a:r>
            <a:endParaRPr lang="en-US" sz="7440" dirty="0"/>
          </a:p>
        </p:txBody>
      </p:sp>
      <p:sp>
        <p:nvSpPr>
          <p:cNvPr id="13" name="Text 9"/>
          <p:cNvSpPr/>
          <p:nvPr/>
        </p:nvSpPr>
        <p:spPr>
          <a:xfrm>
            <a:off x="3441527" y="4829586"/>
            <a:ext cx="38185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</a:t>
            </a:r>
            <a:endParaRPr lang="en-US" sz="2232" dirty="0"/>
          </a:p>
        </p:txBody>
      </p:sp>
      <p:sp>
        <p:nvSpPr>
          <p:cNvPr id="14" name="Text 10"/>
          <p:cNvSpPr/>
          <p:nvPr/>
        </p:nvSpPr>
        <p:spPr>
          <a:xfrm>
            <a:off x="1120140" y="5304343"/>
            <a:ext cx="317296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text-embedding-3-small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11" y="433791"/>
            <a:ext cx="6319144" cy="77958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22124" y="3874861"/>
            <a:ext cx="1876989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占全美 VC 近 1/3</a:t>
            </a:r>
            <a:endParaRPr lang="en-US" sz="1584" dirty="0"/>
          </a:p>
        </p:txBody>
      </p:sp>
      <p:sp>
        <p:nvSpPr>
          <p:cNvPr id="17" name="Text 12"/>
          <p:cNvSpPr/>
          <p:nvPr/>
        </p:nvSpPr>
        <p:spPr>
          <a:xfrm>
            <a:off x="4792645" y="4264002"/>
            <a:ext cx="1923898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BGE</a:t>
            </a:r>
            <a:endParaRPr lang="en-US" sz="7440" dirty="0"/>
          </a:p>
        </p:txBody>
      </p:sp>
      <p:sp>
        <p:nvSpPr>
          <p:cNvPr id="18" name="Text 13"/>
          <p:cNvSpPr/>
          <p:nvPr/>
        </p:nvSpPr>
        <p:spPr>
          <a:xfrm>
            <a:off x="6575450" y="4829586"/>
            <a:ext cx="119823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中文最优</a:t>
            </a:r>
            <a:endParaRPr lang="en-US" sz="2232" dirty="0"/>
          </a:p>
        </p:txBody>
      </p:sp>
      <p:sp>
        <p:nvSpPr>
          <p:cNvPr id="19" name="Text 14"/>
          <p:cNvSpPr/>
          <p:nvPr/>
        </p:nvSpPr>
        <p:spPr>
          <a:xfrm>
            <a:off x="4792645" y="5304343"/>
            <a:ext cx="21869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可本地部署，私有化首选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318" y="433791"/>
            <a:ext cx="6672468" cy="779580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2731" y="3874861"/>
            <a:ext cx="134846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头部高度追捧</a:t>
            </a:r>
            <a:endParaRPr lang="en-US" sz="1584" dirty="0"/>
          </a:p>
        </p:txBody>
      </p:sp>
      <p:sp>
        <p:nvSpPr>
          <p:cNvPr id="22" name="Text 16"/>
          <p:cNvSpPr/>
          <p:nvPr/>
        </p:nvSpPr>
        <p:spPr>
          <a:xfrm>
            <a:off x="8373161" y="4264002"/>
            <a:ext cx="2646365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HNSW</a:t>
            </a:r>
            <a:endParaRPr lang="en-US" sz="7440" dirty="0"/>
          </a:p>
        </p:txBody>
      </p:sp>
      <p:sp>
        <p:nvSpPr>
          <p:cNvPr id="23" name="Text 17"/>
          <p:cNvSpPr/>
          <p:nvPr/>
        </p:nvSpPr>
        <p:spPr>
          <a:xfrm>
            <a:off x="11019617" y="4829586"/>
            <a:ext cx="65397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</a:t>
            </a:r>
            <a:endParaRPr lang="en-US" sz="2232" dirty="0"/>
          </a:p>
        </p:txBody>
      </p:sp>
      <p:sp>
        <p:nvSpPr>
          <p:cNvPr id="24" name="Text 18"/>
          <p:cNvSpPr/>
          <p:nvPr/>
        </p:nvSpPr>
        <p:spPr>
          <a:xfrm>
            <a:off x="8373161" y="5304343"/>
            <a:ext cx="201360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最流行的ANN索引算法</a:t>
            </a:r>
            <a:endParaRPr lang="en-US" sz="15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9250" y="433791"/>
            <a:ext cx="4081150" cy="779580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436663" y="3874861"/>
            <a:ext cx="113934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地理护城河</a:t>
            </a:r>
            <a:endParaRPr lang="en-US" sz="1584" dirty="0"/>
          </a:p>
        </p:txBody>
      </p:sp>
      <p:sp>
        <p:nvSpPr>
          <p:cNvPr id="27" name="Text 20"/>
          <p:cNvSpPr/>
          <p:nvPr/>
        </p:nvSpPr>
        <p:spPr>
          <a:xfrm>
            <a:off x="12307092" y="4264002"/>
            <a:ext cx="1338773" cy="1231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696"/>
              </a:lnSpc>
              <a:buNone/>
            </a:pPr>
            <a:r>
              <a:rPr lang="en-US" sz="7440" b="1" spc="-200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ms</a:t>
            </a:r>
            <a:endParaRPr lang="en-US" sz="7440" dirty="0"/>
          </a:p>
        </p:txBody>
      </p:sp>
      <p:sp>
        <p:nvSpPr>
          <p:cNvPr id="28" name="Text 21"/>
          <p:cNvSpPr/>
          <p:nvPr/>
        </p:nvSpPr>
        <p:spPr>
          <a:xfrm>
            <a:off x="13645866" y="4829586"/>
            <a:ext cx="926104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2232" spc="-200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级响应</a:t>
            </a:r>
            <a:endParaRPr lang="en-US" sz="2232" dirty="0"/>
          </a:p>
        </p:txBody>
      </p:sp>
      <p:sp>
        <p:nvSpPr>
          <p:cNvPr id="29" name="Text 22"/>
          <p:cNvSpPr/>
          <p:nvPr/>
        </p:nvSpPr>
        <p:spPr>
          <a:xfrm>
            <a:off x="12307092" y="5304343"/>
            <a:ext cx="23233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ANN检索百万向量仅需毫秒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67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检索策略演进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三代检索策略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3848252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从向量到混合+重排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107442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760" dirty="0"/>
          </a:p>
        </p:txBody>
      </p:sp>
      <p:sp>
        <p:nvSpPr>
          <p:cNvPr id="13" name="Text 9"/>
          <p:cNvSpPr/>
          <p:nvPr/>
        </p:nvSpPr>
        <p:spPr>
          <a:xfrm>
            <a:off x="1074420" y="2946928"/>
            <a:ext cx="199641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纯向量检索</a:t>
            </a:r>
            <a:endParaRPr lang="en-US" sz="2160" dirty="0"/>
          </a:p>
        </p:txBody>
      </p:sp>
      <p:sp>
        <p:nvSpPr>
          <p:cNvPr id="14" name="Text 10"/>
          <p:cNvSpPr/>
          <p:nvPr/>
        </p:nvSpPr>
        <p:spPr>
          <a:xfrm>
            <a:off x="1074420" y="3416930"/>
            <a:ext cx="1996410" cy="313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理解语义但精确匹配弱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4904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16" name="Shape 12"/>
          <p:cNvSpPr/>
          <p:nvPr/>
        </p:nvSpPr>
        <p:spPr>
          <a:xfrm>
            <a:off x="422151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51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447297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5760" dirty="0"/>
          </a:p>
        </p:txBody>
      </p:sp>
      <p:sp>
        <p:nvSpPr>
          <p:cNvPr id="19" name="Text 14"/>
          <p:cNvSpPr/>
          <p:nvPr/>
        </p:nvSpPr>
        <p:spPr>
          <a:xfrm>
            <a:off x="4472970" y="2946928"/>
            <a:ext cx="209516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向量+BM25混合</a:t>
            </a:r>
            <a:endParaRPr lang="en-US" sz="2160" dirty="0"/>
          </a:p>
        </p:txBody>
      </p:sp>
      <p:sp>
        <p:nvSpPr>
          <p:cNvPr id="20" name="Text 15"/>
          <p:cNvSpPr/>
          <p:nvPr/>
        </p:nvSpPr>
        <p:spPr>
          <a:xfrm>
            <a:off x="4472970" y="3416930"/>
            <a:ext cx="2095165" cy="313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语义+关键词取长补短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14759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22" name="Shape 17"/>
          <p:cNvSpPr/>
          <p:nvPr/>
        </p:nvSpPr>
        <p:spPr>
          <a:xfrm>
            <a:off x="761997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7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4" name="Text 18"/>
          <p:cNvSpPr/>
          <p:nvPr/>
        </p:nvSpPr>
        <p:spPr>
          <a:xfrm>
            <a:off x="787143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5760" dirty="0"/>
          </a:p>
        </p:txBody>
      </p:sp>
      <p:sp>
        <p:nvSpPr>
          <p:cNvPr id="25" name="Text 19"/>
          <p:cNvSpPr/>
          <p:nvPr/>
        </p:nvSpPr>
        <p:spPr>
          <a:xfrm>
            <a:off x="7871430" y="2946928"/>
            <a:ext cx="2121225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混合+Reranker</a:t>
            </a:r>
            <a:endParaRPr lang="en-US" sz="2160" dirty="0"/>
          </a:p>
        </p:txBody>
      </p:sp>
      <p:sp>
        <p:nvSpPr>
          <p:cNvPr id="26" name="Text 20"/>
          <p:cNvSpPr/>
          <p:nvPr/>
        </p:nvSpPr>
        <p:spPr>
          <a:xfrm>
            <a:off x="7871430" y="3416930"/>
            <a:ext cx="2130933" cy="313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先粗筛召回再精排Top-5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0546050" y="4574377"/>
            <a:ext cx="426750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2FE07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2640" dirty="0"/>
          </a:p>
        </p:txBody>
      </p:sp>
      <p:sp>
        <p:nvSpPr>
          <p:cNvPr id="28" name="Shape 22"/>
          <p:cNvSpPr/>
          <p:nvPr/>
        </p:nvSpPr>
        <p:spPr>
          <a:xfrm>
            <a:off x="11018520" y="1955444"/>
            <a:ext cx="2788920" cy="5603535"/>
          </a:xfrm>
          <a:prstGeom prst="roundRect">
            <a:avLst>
              <a:gd name="adj" fmla="val 9976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955444"/>
            <a:ext cx="2788920" cy="560353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0" name="Text 23"/>
          <p:cNvSpPr/>
          <p:nvPr/>
        </p:nvSpPr>
        <p:spPr>
          <a:xfrm>
            <a:off x="11269980" y="2111961"/>
            <a:ext cx="1046074" cy="957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5760" b="1" dirty="0">
                <a:solidFill>
                  <a:srgbClr val="2FE07F">
                    <a:alpha val="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5760" dirty="0"/>
          </a:p>
        </p:txBody>
      </p:sp>
      <p:sp>
        <p:nvSpPr>
          <p:cNvPr id="31" name="Text 24"/>
          <p:cNvSpPr/>
          <p:nvPr/>
        </p:nvSpPr>
        <p:spPr>
          <a:xfrm>
            <a:off x="11269980" y="2946928"/>
            <a:ext cx="237744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进阶优化</a:t>
            </a:r>
            <a:endParaRPr lang="en-US" sz="2160" dirty="0"/>
          </a:p>
        </p:txBody>
      </p:sp>
      <p:sp>
        <p:nvSpPr>
          <p:cNvPr id="32" name="Text 25"/>
          <p:cNvSpPr/>
          <p:nvPr/>
        </p:nvSpPr>
        <p:spPr>
          <a:xfrm>
            <a:off x="11269980" y="3416930"/>
            <a:ext cx="224523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Query改写/HyDE/父子分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1269980" y="3702680"/>
            <a:ext cx="2926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块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适用场景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44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13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何时使用RAG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7654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六大典型场景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924995"/>
            <a:ext cx="5323545" cy="5634076"/>
          </a:xfrm>
          <a:prstGeom prst="roundRect">
            <a:avLst>
              <a:gd name="adj" fmla="val 5226"/>
            </a:avLst>
          </a:prstGeom>
          <a:solidFill>
            <a:srgbClr val="0611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4995"/>
            <a:ext cx="5323545" cy="5634076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2FE07F">
                <a:alpha val="61600"/>
              </a:srgbClr>
            </a:outerShdw>
          </a:effectLst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50" y="2462205"/>
            <a:ext cx="228600" cy="15270"/>
          </a:xfrm>
          <a:prstGeom prst="rect">
            <a:avLst/>
          </a:prstGeom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1577340" y="2344064"/>
            <a:ext cx="3831168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264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知识量大+需准确+可溯源+私有数据</a:t>
            </a:r>
            <a:endParaRPr lang="en-US" sz="1452" dirty="0"/>
          </a:p>
        </p:txBody>
      </p:sp>
      <p:sp>
        <p:nvSpPr>
          <p:cNvPr id="14" name="Text 9"/>
          <p:cNvSpPr/>
          <p:nvPr/>
        </p:nvSpPr>
        <p:spPr>
          <a:xfrm>
            <a:off x="3349904" y="2186510"/>
            <a:ext cx="2688336" cy="220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0"/>
              </a:lnSpc>
              <a:buNone/>
            </a:pPr>
            <a:r>
              <a:rPr lang="en-US" sz="18000" b="1" spc="-200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8000" dirty="0"/>
          </a:p>
        </p:txBody>
      </p:sp>
      <p:sp>
        <p:nvSpPr>
          <p:cNvPr id="15" name="Text 10"/>
          <p:cNvSpPr/>
          <p:nvPr/>
        </p:nvSpPr>
        <p:spPr>
          <a:xfrm>
            <a:off x="1226850" y="5297119"/>
            <a:ext cx="929030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931"/>
              </a:lnSpc>
              <a:buNone/>
            </a:pPr>
            <a:r>
              <a:rPr lang="en-US" sz="5040" b="1" spc="-189" kern="0" dirty="0">
                <a:solidFill>
                  <a:srgbClr val="A8F6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5040" dirty="0"/>
          </a:p>
        </p:txBody>
      </p:sp>
      <p:sp>
        <p:nvSpPr>
          <p:cNvPr id="16" name="Text 11"/>
          <p:cNvSpPr/>
          <p:nvPr/>
        </p:nvSpPr>
        <p:spPr>
          <a:xfrm>
            <a:off x="1226850" y="6118726"/>
            <a:ext cx="4607204" cy="5212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spc="-45" kern="0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企业知识库问答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1226850" y="6788524"/>
            <a:ext cx="4607204" cy="380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84"/>
              </a:lnSpc>
              <a:buNone/>
            </a:pPr>
            <a:r>
              <a:rPr lang="en-US" sz="17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员工查询制度流程文档，新员工onboarding</a:t>
            </a:r>
            <a:endParaRPr lang="en-US" sz="1740" dirty="0"/>
          </a:p>
        </p:txBody>
      </p:sp>
      <p:sp>
        <p:nvSpPr>
          <p:cNvPr id="18" name="Shape 13"/>
          <p:cNvSpPr/>
          <p:nvPr/>
        </p:nvSpPr>
        <p:spPr>
          <a:xfrm>
            <a:off x="822960" y="1924995"/>
            <a:ext cx="5285415" cy="5595945"/>
          </a:xfrm>
          <a:prstGeom prst="roundRect">
            <a:avLst>
              <a:gd name="adj" fmla="val 5264"/>
            </a:avLst>
          </a:prstGeom>
          <a:solidFill>
            <a:srgbClr val="53E6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87464" y="2319376"/>
            <a:ext cx="15270" cy="4845406"/>
          </a:xfrm>
          <a:prstGeom prst="rect">
            <a:avLst/>
          </a:prstGeom>
          <a:solidFill>
            <a:srgbClr val="2FE07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2715" y="1924995"/>
            <a:ext cx="7264725" cy="18779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42715" y="3791397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41744" y="2806751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23745" y="2628306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120" dirty="0"/>
          </a:p>
        </p:txBody>
      </p:sp>
      <p:sp>
        <p:nvSpPr>
          <p:cNvPr id="24" name="Text 19"/>
          <p:cNvSpPr/>
          <p:nvPr/>
        </p:nvSpPr>
        <p:spPr>
          <a:xfrm>
            <a:off x="7627833" y="2549756"/>
            <a:ext cx="3201589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智能客服售后</a:t>
            </a:r>
            <a:endParaRPr lang="en-US" sz="1980" dirty="0"/>
          </a:p>
        </p:txBody>
      </p:sp>
      <p:sp>
        <p:nvSpPr>
          <p:cNvPr id="25" name="Text 20"/>
          <p:cNvSpPr/>
          <p:nvPr/>
        </p:nvSpPr>
        <p:spPr>
          <a:xfrm>
            <a:off x="7627833" y="2898008"/>
            <a:ext cx="320158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基于产品手册FAQ自动回复，7x24在线</a:t>
            </a:r>
            <a:endParaRPr lang="en-US" sz="1440" dirty="0"/>
          </a:p>
        </p:txBody>
      </p:sp>
      <p:sp>
        <p:nvSpPr>
          <p:cNvPr id="26" name="Shape 21"/>
          <p:cNvSpPr/>
          <p:nvPr/>
        </p:nvSpPr>
        <p:spPr>
          <a:xfrm>
            <a:off x="6542715" y="3802990"/>
            <a:ext cx="7264725" cy="18780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42715" y="5669483"/>
            <a:ext cx="7264725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41744" y="4684837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923745" y="4506300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120" dirty="0"/>
          </a:p>
        </p:txBody>
      </p:sp>
      <p:sp>
        <p:nvSpPr>
          <p:cNvPr id="30" name="Text 25"/>
          <p:cNvSpPr/>
          <p:nvPr/>
        </p:nvSpPr>
        <p:spPr>
          <a:xfrm>
            <a:off x="7627833" y="4427842"/>
            <a:ext cx="3017520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文档分析问答</a:t>
            </a:r>
            <a:endParaRPr lang="en-US" sz="1980" dirty="0"/>
          </a:p>
        </p:txBody>
      </p:sp>
      <p:sp>
        <p:nvSpPr>
          <p:cNvPr id="31" name="Text 26"/>
          <p:cNvSpPr/>
          <p:nvPr/>
        </p:nvSpPr>
        <p:spPr>
          <a:xfrm>
            <a:off x="7627833" y="4776094"/>
            <a:ext cx="30175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法律合同审查、研报分析，支持溯源</a:t>
            </a:r>
            <a:endParaRPr lang="en-US" sz="1440" dirty="0"/>
          </a:p>
        </p:txBody>
      </p:sp>
      <p:sp>
        <p:nvSpPr>
          <p:cNvPr id="32" name="Shape 27"/>
          <p:cNvSpPr/>
          <p:nvPr/>
        </p:nvSpPr>
        <p:spPr>
          <a:xfrm>
            <a:off x="6641744" y="6562832"/>
            <a:ext cx="106710" cy="10671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2FE07F">
                <a:alpha val="12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6923745" y="6384387"/>
            <a:ext cx="616915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3120" b="1" spc="-78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120" dirty="0"/>
          </a:p>
        </p:txBody>
      </p:sp>
      <p:sp>
        <p:nvSpPr>
          <p:cNvPr id="34" name="Text 29"/>
          <p:cNvSpPr/>
          <p:nvPr/>
        </p:nvSpPr>
        <p:spPr>
          <a:xfrm>
            <a:off x="7627833" y="6305745"/>
            <a:ext cx="3566160" cy="324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36"/>
              </a:lnSpc>
              <a:buNone/>
            </a:pPr>
            <a:r>
              <a:rPr lang="en-US" sz="19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代码API助手</a:t>
            </a:r>
            <a:endParaRPr lang="en-US" sz="1980" dirty="0"/>
          </a:p>
        </p:txBody>
      </p:sp>
      <p:sp>
        <p:nvSpPr>
          <p:cNvPr id="35" name="Text 30"/>
          <p:cNvSpPr/>
          <p:nvPr/>
        </p:nvSpPr>
        <p:spPr>
          <a:xfrm>
            <a:off x="7627833" y="6654089"/>
            <a:ext cx="35661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基于内部代码库的智能问答，提高开发效率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场景判断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300014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适合 vs 不适合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667018" y="1040221"/>
            <a:ext cx="315376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RAG不是万能药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894545"/>
            <a:ext cx="6141750" cy="5664525"/>
          </a:xfrm>
          <a:prstGeom prst="roundRect">
            <a:avLst>
              <a:gd name="adj" fmla="val 4912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94545"/>
            <a:ext cx="6141750" cy="566452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1211580" y="2252624"/>
            <a:ext cx="1614739" cy="434340"/>
          </a:xfrm>
          <a:prstGeom prst="roundRect">
            <a:avLst>
              <a:gd name="adj" fmla="val 1281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2FE07F"/>
            </a:solidFill>
            <a:prstDash val="solid"/>
          </a:ln>
          <a:effectLst>
            <a:outerShdw sx="100000" sy="100000" kx="0" ky="0" algn="bl" rotWithShape="0" blurRad="228600" dist="12700" dir="16200000">
              <a:srgbClr val="2FE07F">
                <a:alpha val="7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71600" y="2370765"/>
            <a:ext cx="2514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2FE07F">
                    <a:alpha val="92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▲</a:t>
            </a:r>
            <a:endParaRPr lang="en-US" sz="1188" dirty="0"/>
          </a:p>
        </p:txBody>
      </p:sp>
      <p:sp>
        <p:nvSpPr>
          <p:cNvPr id="14" name="Text 10"/>
          <p:cNvSpPr/>
          <p:nvPr/>
        </p:nvSpPr>
        <p:spPr>
          <a:xfrm>
            <a:off x="1607790" y="2328885"/>
            <a:ext cx="1365599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不适合RAG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211580" y="2818865"/>
            <a:ext cx="1841297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2FE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63.9</a:t>
            </a:r>
            <a:endParaRPr lang="en-US" sz="5520" dirty="0"/>
          </a:p>
        </p:txBody>
      </p:sp>
      <p:sp>
        <p:nvSpPr>
          <p:cNvPr id="16" name="Text 12"/>
          <p:cNvSpPr/>
          <p:nvPr/>
        </p:nvSpPr>
        <p:spPr>
          <a:xfrm>
            <a:off x="2736891" y="3250875"/>
            <a:ext cx="249083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766" dirty="0"/>
          </a:p>
        </p:txBody>
      </p:sp>
      <p:sp>
        <p:nvSpPr>
          <p:cNvPr id="17" name="Text 13"/>
          <p:cNvSpPr/>
          <p:nvPr/>
        </p:nvSpPr>
        <p:spPr>
          <a:xfrm>
            <a:off x="1211580" y="3573932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资金流向头部湾区</a:t>
            </a:r>
            <a:endParaRPr lang="en-US" sz="1518" dirty="0"/>
          </a:p>
        </p:txBody>
      </p:sp>
      <p:sp>
        <p:nvSpPr>
          <p:cNvPr id="18" name="Shape 14"/>
          <p:cNvSpPr/>
          <p:nvPr/>
        </p:nvSpPr>
        <p:spPr>
          <a:xfrm>
            <a:off x="1211580" y="4106113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409730" y="4007084"/>
            <a:ext cx="35890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纯创造性任务：写诗写故事需要创造力</a:t>
            </a:r>
            <a:endParaRPr lang="en-US" sz="1620" dirty="0"/>
          </a:p>
        </p:txBody>
      </p:sp>
      <p:sp>
        <p:nvSpPr>
          <p:cNvPr id="20" name="Shape 16"/>
          <p:cNvSpPr/>
          <p:nvPr/>
        </p:nvSpPr>
        <p:spPr>
          <a:xfrm>
            <a:off x="1211580" y="4558741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409730" y="4459712"/>
            <a:ext cx="35890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通用知识问答：大模型已掌握检索多余</a:t>
            </a:r>
            <a:endParaRPr lang="en-US" sz="1620" dirty="0"/>
          </a:p>
        </p:txBody>
      </p:sp>
      <p:sp>
        <p:nvSpPr>
          <p:cNvPr id="22" name="Shape 18"/>
          <p:cNvSpPr/>
          <p:nvPr/>
        </p:nvSpPr>
        <p:spPr>
          <a:xfrm>
            <a:off x="1211580" y="5011461"/>
            <a:ext cx="76170" cy="76170"/>
          </a:xfrm>
          <a:prstGeom prst="ellipse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2FE07F">
                <a:alpha val="7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409730" y="4912431"/>
            <a:ext cx="31775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规则明确简单任务：写代码更可靠</a:t>
            </a:r>
            <a:endParaRPr lang="en-US" sz="1620" dirty="0"/>
          </a:p>
        </p:txBody>
      </p:sp>
      <p:sp>
        <p:nvSpPr>
          <p:cNvPr id="24" name="Shape 20"/>
          <p:cNvSpPr/>
          <p:nvPr/>
        </p:nvSpPr>
        <p:spPr>
          <a:xfrm>
            <a:off x="7665690" y="1894545"/>
            <a:ext cx="6141750" cy="5664525"/>
          </a:xfrm>
          <a:prstGeom prst="roundRect">
            <a:avLst>
              <a:gd name="adj" fmla="val 4912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690" y="1894545"/>
            <a:ext cx="6141750" cy="566452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Shape 21"/>
          <p:cNvSpPr/>
          <p:nvPr/>
        </p:nvSpPr>
        <p:spPr>
          <a:xfrm>
            <a:off x="12017411" y="2252624"/>
            <a:ext cx="1401409" cy="434340"/>
          </a:xfrm>
          <a:prstGeom prst="roundRect">
            <a:avLst>
              <a:gd name="adj" fmla="val 12811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4EA2FF"/>
            </a:solidFill>
            <a:prstDash val="solid"/>
          </a:ln>
          <a:effectLst>
            <a:outerShdw sx="100000" sy="100000" kx="0" ky="0" algn="bl" rotWithShape="0" blurRad="228600" dist="12700" dir="16200000">
              <a:srgbClr val="4EA2FF">
                <a:alpha val="7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12177431" y="2370765"/>
            <a:ext cx="25146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188" spc="225" kern="0" dirty="0">
                <a:solidFill>
                  <a:srgbClr val="4EA2FF">
                    <a:alpha val="92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▼</a:t>
            </a:r>
            <a:endParaRPr lang="en-US" sz="1188" dirty="0"/>
          </a:p>
        </p:txBody>
      </p:sp>
      <p:sp>
        <p:nvSpPr>
          <p:cNvPr id="28" name="Text 23"/>
          <p:cNvSpPr/>
          <p:nvPr/>
        </p:nvSpPr>
        <p:spPr>
          <a:xfrm>
            <a:off x="12413712" y="2328885"/>
            <a:ext cx="111442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spc="225" kern="0" dirty="0">
                <a:solidFill>
                  <a:srgbClr val="4EA2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适合RAG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11231209" y="2818865"/>
            <a:ext cx="1619768" cy="926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244"/>
              </a:lnSpc>
              <a:buNone/>
            </a:pPr>
            <a:r>
              <a:rPr lang="en-US" sz="5520" b="1" spc="-138" kern="0" dirty="0">
                <a:solidFill>
                  <a:srgbClr val="4EA2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≈10</a:t>
            </a:r>
            <a:endParaRPr lang="en-US" sz="5520" dirty="0"/>
          </a:p>
        </p:txBody>
      </p:sp>
      <p:sp>
        <p:nvSpPr>
          <p:cNvPr id="30" name="Text 25"/>
          <p:cNvSpPr/>
          <p:nvPr/>
        </p:nvSpPr>
        <p:spPr>
          <a:xfrm>
            <a:off x="12754990" y="3252612"/>
            <a:ext cx="66383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678"/>
              </a:lnSpc>
              <a:buNone/>
            </a:pPr>
            <a:r>
              <a:rPr lang="en-US" sz="1766" spc="-138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亿/笔</a:t>
            </a:r>
            <a:endParaRPr lang="en-US" sz="1766" dirty="0"/>
          </a:p>
        </p:txBody>
      </p:sp>
      <p:sp>
        <p:nvSpPr>
          <p:cNvPr id="31" name="Text 26"/>
          <p:cNvSpPr/>
          <p:nvPr/>
        </p:nvSpPr>
        <p:spPr>
          <a:xfrm>
            <a:off x="11774822" y="3573932"/>
            <a:ext cx="1643998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42"/>
              </a:lnSpc>
              <a:buNone/>
            </a:pPr>
            <a:r>
              <a:rPr lang="en-US" sz="1518" spc="35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平均单笔估值门槛</a:t>
            </a:r>
            <a:endParaRPr lang="en-US" sz="1518" dirty="0"/>
          </a:p>
        </p:txBody>
      </p:sp>
      <p:sp>
        <p:nvSpPr>
          <p:cNvPr id="32" name="Shape 27"/>
          <p:cNvSpPr/>
          <p:nvPr/>
        </p:nvSpPr>
        <p:spPr>
          <a:xfrm>
            <a:off x="13342650" y="4106113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9631650" y="4007084"/>
            <a:ext cx="35890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知识量大且会更新：企业文档技术文档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3342650" y="4558741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837390" y="4459712"/>
            <a:ext cx="33832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需要可溯源回答：医疗法律金融领域</a:t>
            </a:r>
            <a:endParaRPr lang="en-US" sz="1620" dirty="0"/>
          </a:p>
        </p:txBody>
      </p:sp>
      <p:sp>
        <p:nvSpPr>
          <p:cNvPr id="36" name="Shape 31"/>
          <p:cNvSpPr/>
          <p:nvPr/>
        </p:nvSpPr>
        <p:spPr>
          <a:xfrm>
            <a:off x="13342650" y="5011461"/>
            <a:ext cx="76170" cy="76170"/>
          </a:xfrm>
          <a:prstGeom prst="ellipse">
            <a:avLst/>
          </a:prstGeom>
          <a:solidFill>
            <a:srgbClr val="4EA2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14300" dist="12700" dir="16200000">
              <a:srgbClr val="4EA2FF">
                <a:alpha val="7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9837390" y="4912431"/>
            <a:ext cx="33832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365"/>
              </a:lnSpc>
              <a:buNone/>
            </a:pPr>
            <a:r>
              <a:rPr lang="en-US" sz="162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私有领域数据：内部代码库业务系统</a:t>
            </a:r>
            <a:endParaRPr lang="en-US" sz="1620" dirty="0"/>
          </a:p>
        </p:txBody>
      </p:sp>
      <p:sp>
        <p:nvSpPr>
          <p:cNvPr id="38" name="Shape 33"/>
          <p:cNvSpPr/>
          <p:nvPr/>
        </p:nvSpPr>
        <p:spPr>
          <a:xfrm>
            <a:off x="6949440" y="4361048"/>
            <a:ext cx="731520" cy="7315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361048"/>
            <a:ext cx="731520" cy="73152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07090B">
                <a:alpha val="70000"/>
              </a:srgbClr>
            </a:outerShdw>
          </a:effectLst>
        </p:spPr>
      </p:pic>
      <p:sp>
        <p:nvSpPr>
          <p:cNvPr id="40" name="Text 34"/>
          <p:cNvSpPr/>
          <p:nvPr/>
        </p:nvSpPr>
        <p:spPr>
          <a:xfrm>
            <a:off x="7127565" y="4543928"/>
            <a:ext cx="505701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80" b="1" spc="114" kern="0" dirty="0">
                <a:solidFill>
                  <a:srgbClr val="F4F7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VS</a:t>
            </a:r>
            <a:endParaRPr lang="en-US" sz="2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52101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企业知识库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21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2219706"/>
            <a:ext cx="2757800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16" spc="15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纯大模型不了解企业知识</a:t>
            </a:r>
            <a:endParaRPr lang="en-US" sz="1716" dirty="0"/>
          </a:p>
        </p:txBody>
      </p:sp>
      <p:sp>
        <p:nvSpPr>
          <p:cNvPr id="9" name="Text 6"/>
          <p:cNvSpPr/>
          <p:nvPr/>
        </p:nvSpPr>
        <p:spPr>
          <a:xfrm>
            <a:off x="822960" y="2479948"/>
            <a:ext cx="1231392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316"/>
              </a:lnSpc>
              <a:buNone/>
            </a:pPr>
            <a:r>
              <a:rPr lang="en-US" sz="13800" b="1" spc="-200" kern="0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13800" dirty="0"/>
          </a:p>
        </p:txBody>
      </p:sp>
      <p:sp>
        <p:nvSpPr>
          <p:cNvPr id="10" name="Text 7"/>
          <p:cNvSpPr/>
          <p:nvPr/>
        </p:nvSpPr>
        <p:spPr>
          <a:xfrm>
            <a:off x="1930938" y="3532327"/>
            <a:ext cx="1774027" cy="560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16"/>
              </a:lnSpc>
              <a:buNone/>
            </a:pPr>
            <a:r>
              <a:rPr lang="en-US" sz="3312" dirty="0">
                <a:solidFill>
                  <a:srgbClr val="EEF3F1">
                    <a:alpha val="34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文档覆盖</a:t>
            </a:r>
            <a:endParaRPr lang="en-US" sz="3312" dirty="0"/>
          </a:p>
        </p:txBody>
      </p:sp>
      <p:sp>
        <p:nvSpPr>
          <p:cNvPr id="11" name="Shape 8"/>
          <p:cNvSpPr/>
          <p:nvPr/>
        </p:nvSpPr>
        <p:spPr>
          <a:xfrm>
            <a:off x="6964710" y="2328611"/>
            <a:ext cx="701070" cy="70107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2FE07F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710" y="2328611"/>
            <a:ext cx="701070" cy="701070"/>
          </a:xfrm>
          <a:prstGeom prst="rect">
            <a:avLst/>
          </a:prstGeom>
          <a:effectLst>
            <a:outerShdw sx="100000" sy="100000" kx="0" ky="0" algn="bl" rotWithShape="0" blurRad="76200" dist="12700" dir="16200000">
              <a:srgbClr val="07090B">
                <a:alpha val="70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7124730" y="2429469"/>
            <a:ext cx="472470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2FE07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↗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642384" y="3126378"/>
            <a:ext cx="1314298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840" b="1" spc="-96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+218</a:t>
            </a:r>
            <a:endParaRPr lang="en-US" sz="3840" dirty="0"/>
          </a:p>
        </p:txBody>
      </p:sp>
      <p:sp>
        <p:nvSpPr>
          <p:cNvPr id="15" name="Text 11"/>
          <p:cNvSpPr/>
          <p:nvPr/>
        </p:nvSpPr>
        <p:spPr>
          <a:xfrm>
            <a:off x="7812908" y="3342041"/>
            <a:ext cx="26654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920" b="1" spc="-96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920" dirty="0"/>
          </a:p>
        </p:txBody>
      </p:sp>
      <p:sp>
        <p:nvSpPr>
          <p:cNvPr id="16" name="Text 12"/>
          <p:cNvSpPr/>
          <p:nvPr/>
        </p:nvSpPr>
        <p:spPr>
          <a:xfrm>
            <a:off x="6950629" y="3684941"/>
            <a:ext cx="89603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同比增幅</a:t>
            </a:r>
            <a:endParaRPr lang="en-US" sz="1518" dirty="0"/>
          </a:p>
        </p:txBody>
      </p:sp>
      <p:sp>
        <p:nvSpPr>
          <p:cNvPr id="17" name="Text 13"/>
          <p:cNvSpPr/>
          <p:nvPr/>
        </p:nvSpPr>
        <p:spPr>
          <a:xfrm>
            <a:off x="10771083" y="2219706"/>
            <a:ext cx="3036357" cy="317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16" spc="156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RAG接入后可检索全部文档</a:t>
            </a:r>
            <a:endParaRPr lang="en-US" sz="1716" dirty="0"/>
          </a:p>
        </p:txBody>
      </p:sp>
      <p:sp>
        <p:nvSpPr>
          <p:cNvPr id="18" name="Text 14"/>
          <p:cNvSpPr/>
          <p:nvPr/>
        </p:nvSpPr>
        <p:spPr>
          <a:xfrm>
            <a:off x="8558693" y="2479948"/>
            <a:ext cx="3474720" cy="2260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316"/>
              </a:lnSpc>
              <a:buNone/>
            </a:pPr>
            <a:r>
              <a:rPr lang="en-US" sz="13800" b="1" spc="-200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13800" dirty="0"/>
          </a:p>
        </p:txBody>
      </p:sp>
      <p:sp>
        <p:nvSpPr>
          <p:cNvPr id="19" name="Text 15"/>
          <p:cNvSpPr/>
          <p:nvPr/>
        </p:nvSpPr>
        <p:spPr>
          <a:xfrm>
            <a:off x="12033413" y="3532327"/>
            <a:ext cx="1774027" cy="560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2716"/>
              </a:lnSpc>
              <a:buNone/>
            </a:pPr>
            <a:r>
              <a:rPr lang="en-US" sz="3312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文档覆盖</a:t>
            </a:r>
            <a:endParaRPr lang="en-US" sz="3312" dirty="0"/>
          </a:p>
        </p:txBody>
      </p:sp>
      <p:sp>
        <p:nvSpPr>
          <p:cNvPr id="20" name="Text 16"/>
          <p:cNvSpPr/>
          <p:nvPr/>
        </p:nvSpPr>
        <p:spPr>
          <a:xfrm>
            <a:off x="822960" y="4481932"/>
            <a:ext cx="1070460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一年时间，美国 AI 初创吸纳的风险投资翻了三倍有余——资本以前所未有的密度押注同一条主线。</a:t>
            </a:r>
            <a:endParaRPr lang="en-US" sz="1920" dirty="0"/>
          </a:p>
        </p:txBody>
      </p:sp>
      <p:sp>
        <p:nvSpPr>
          <p:cNvPr id="21" name="Shape 17"/>
          <p:cNvSpPr/>
          <p:nvPr/>
        </p:nvSpPr>
        <p:spPr>
          <a:xfrm>
            <a:off x="82296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3" name="Text 18"/>
          <p:cNvSpPr/>
          <p:nvPr/>
        </p:nvSpPr>
        <p:spPr>
          <a:xfrm>
            <a:off x="1074420" y="5422253"/>
            <a:ext cx="421843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840" dirty="0"/>
          </a:p>
        </p:txBody>
      </p:sp>
      <p:sp>
        <p:nvSpPr>
          <p:cNvPr id="24" name="Text 19"/>
          <p:cNvSpPr/>
          <p:nvPr/>
        </p:nvSpPr>
        <p:spPr>
          <a:xfrm>
            <a:off x="1412839" y="5683728"/>
            <a:ext cx="67153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大挑战</a:t>
            </a:r>
            <a:endParaRPr lang="en-US" sz="1536" dirty="0"/>
          </a:p>
        </p:txBody>
      </p:sp>
      <p:sp>
        <p:nvSpPr>
          <p:cNvPr id="25" name="Text 20"/>
          <p:cNvSpPr/>
          <p:nvPr/>
        </p:nvSpPr>
        <p:spPr>
          <a:xfrm>
            <a:off x="1074420" y="6002213"/>
            <a:ext cx="2742046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文档质量+权限控制+效果评估</a:t>
            </a:r>
            <a:endParaRPr lang="en-US" sz="1518" dirty="0"/>
          </a:p>
        </p:txBody>
      </p:sp>
      <p:sp>
        <p:nvSpPr>
          <p:cNvPr id="26" name="Shape 21"/>
          <p:cNvSpPr/>
          <p:nvPr/>
        </p:nvSpPr>
        <p:spPr>
          <a:xfrm>
            <a:off x="521208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8" name="Text 22"/>
          <p:cNvSpPr/>
          <p:nvPr/>
        </p:nvSpPr>
        <p:spPr>
          <a:xfrm>
            <a:off x="5463540" y="5422253"/>
            <a:ext cx="1046074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BGE</a:t>
            </a:r>
            <a:endParaRPr lang="en-US" sz="3840" dirty="0"/>
          </a:p>
        </p:txBody>
      </p:sp>
      <p:sp>
        <p:nvSpPr>
          <p:cNvPr id="29" name="Text 23"/>
          <p:cNvSpPr/>
          <p:nvPr/>
        </p:nvSpPr>
        <p:spPr>
          <a:xfrm>
            <a:off x="6396868" y="5683728"/>
            <a:ext cx="85880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推荐模型</a:t>
            </a:r>
            <a:endParaRPr lang="en-US" sz="1536" dirty="0"/>
          </a:p>
        </p:txBody>
      </p:sp>
      <p:sp>
        <p:nvSpPr>
          <p:cNvPr id="30" name="Text 24"/>
          <p:cNvSpPr/>
          <p:nvPr/>
        </p:nvSpPr>
        <p:spPr>
          <a:xfrm>
            <a:off x="5463540" y="6002213"/>
            <a:ext cx="189808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中文私有化部署首选</a:t>
            </a:r>
            <a:endParaRPr lang="en-US" sz="1518" dirty="0"/>
          </a:p>
        </p:txBody>
      </p:sp>
      <p:sp>
        <p:nvSpPr>
          <p:cNvPr id="31" name="Shape 25"/>
          <p:cNvSpPr/>
          <p:nvPr/>
        </p:nvSpPr>
        <p:spPr>
          <a:xfrm>
            <a:off x="9601200" y="527224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527224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33" name="Text 26"/>
          <p:cNvSpPr/>
          <p:nvPr/>
        </p:nvSpPr>
        <p:spPr>
          <a:xfrm>
            <a:off x="9852660" y="5422253"/>
            <a:ext cx="1762963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Milvus</a:t>
            </a:r>
            <a:endParaRPr lang="en-US" sz="3840" dirty="0"/>
          </a:p>
        </p:txBody>
      </p:sp>
      <p:sp>
        <p:nvSpPr>
          <p:cNvPr id="34" name="Text 27"/>
          <p:cNvSpPr/>
          <p:nvPr/>
        </p:nvSpPr>
        <p:spPr>
          <a:xfrm>
            <a:off x="11344869" y="5683728"/>
            <a:ext cx="104607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推荐向量库</a:t>
            </a:r>
            <a:endParaRPr lang="en-US" sz="1536" dirty="0"/>
          </a:p>
        </p:txBody>
      </p:sp>
      <p:sp>
        <p:nvSpPr>
          <p:cNvPr id="35" name="Text 28"/>
          <p:cNvSpPr/>
          <p:nvPr/>
        </p:nvSpPr>
        <p:spPr>
          <a:xfrm>
            <a:off x="9852660" y="6002213"/>
            <a:ext cx="189808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生产环境高性能方案</a:t>
            </a:r>
            <a:endParaRPr lang="en-US" sz="151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7367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智能代码助手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技术选型推荐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3591306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RAG代码助手方案</a:t>
            </a:r>
            <a:endParaRPr lang="en-US" sz="3480" dirty="0"/>
          </a:p>
        </p:txBody>
      </p:sp>
      <p:sp>
        <p:nvSpPr>
          <p:cNvPr id="10" name="Shape 7"/>
          <p:cNvSpPr/>
          <p:nvPr/>
        </p:nvSpPr>
        <p:spPr>
          <a:xfrm>
            <a:off x="822960" y="1894545"/>
            <a:ext cx="1298448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286843"/>
            <a:ext cx="12984480" cy="11593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1894545"/>
            <a:ext cx="22165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</a:t>
            </a:r>
            <a:endParaRPr lang="en-US" sz="1584" dirty="0"/>
          </a:p>
        </p:txBody>
      </p:sp>
      <p:sp>
        <p:nvSpPr>
          <p:cNvPr id="13" name="Text 10"/>
          <p:cNvSpPr/>
          <p:nvPr/>
        </p:nvSpPr>
        <p:spPr>
          <a:xfrm>
            <a:off x="1813530" y="1894545"/>
            <a:ext cx="1002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技术选型</a:t>
            </a:r>
            <a:endParaRPr lang="en-US" sz="1584" dirty="0"/>
          </a:p>
        </p:txBody>
      </p:sp>
      <p:sp>
        <p:nvSpPr>
          <p:cNvPr id="14" name="Text 11"/>
          <p:cNvSpPr/>
          <p:nvPr/>
        </p:nvSpPr>
        <p:spPr>
          <a:xfrm>
            <a:off x="7482261" y="1894545"/>
            <a:ext cx="53597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占比</a:t>
            </a:r>
            <a:endParaRPr lang="en-US" sz="1584" dirty="0"/>
          </a:p>
        </p:txBody>
      </p:sp>
      <p:sp>
        <p:nvSpPr>
          <p:cNvPr id="15" name="Text 12"/>
          <p:cNvSpPr/>
          <p:nvPr/>
        </p:nvSpPr>
        <p:spPr>
          <a:xfrm>
            <a:off x="12809738" y="1894545"/>
            <a:ext cx="769102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推荐度</a:t>
            </a:r>
            <a:endParaRPr lang="en-US" sz="1584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096"/>
            <a:ext cx="14630400" cy="43189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91097" y="2639233"/>
            <a:ext cx="246278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7090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80" dirty="0"/>
          </a:p>
        </p:txBody>
      </p:sp>
      <p:sp>
        <p:nvSpPr>
          <p:cNvPr id="18" name="Text 14"/>
          <p:cNvSpPr/>
          <p:nvPr/>
        </p:nvSpPr>
        <p:spPr>
          <a:xfrm>
            <a:off x="1821210" y="2496769"/>
            <a:ext cx="1448867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dirty="0">
                <a:solidFill>
                  <a:srgbClr val="EAFFF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2040" dirty="0"/>
          </a:p>
        </p:txBody>
      </p:sp>
      <p:sp>
        <p:nvSpPr>
          <p:cNvPr id="19" name="Text 15"/>
          <p:cNvSpPr/>
          <p:nvPr/>
        </p:nvSpPr>
        <p:spPr>
          <a:xfrm>
            <a:off x="1821210" y="2857866"/>
            <a:ext cx="130846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EAFFF4">
                    <a:alpha val="56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文档处理框架</a:t>
            </a:r>
            <a:endParaRPr lang="en-US" sz="1584" dirty="0"/>
          </a:p>
        </p:txBody>
      </p:sp>
      <p:sp>
        <p:nvSpPr>
          <p:cNvPr id="20" name="Text 16"/>
          <p:cNvSpPr/>
          <p:nvPr/>
        </p:nvSpPr>
        <p:spPr>
          <a:xfrm>
            <a:off x="13021635" y="2624054"/>
            <a:ext cx="324307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640" b="1" spc="-33" kern="0" dirty="0">
                <a:solidFill>
                  <a:srgbClr val="A8F6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640" dirty="0"/>
          </a:p>
        </p:txBody>
      </p:sp>
      <p:sp>
        <p:nvSpPr>
          <p:cNvPr id="21" name="Text 17"/>
          <p:cNvSpPr/>
          <p:nvPr/>
        </p:nvSpPr>
        <p:spPr>
          <a:xfrm>
            <a:off x="13285958" y="2768803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spc="-33" kern="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440" dirty="0"/>
          </a:p>
        </p:txBody>
      </p:sp>
      <p:sp>
        <p:nvSpPr>
          <p:cNvPr id="22" name="Shape 18"/>
          <p:cNvSpPr/>
          <p:nvPr/>
        </p:nvSpPr>
        <p:spPr>
          <a:xfrm>
            <a:off x="822960" y="3353471"/>
            <a:ext cx="12984480" cy="88751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" y="4229394"/>
            <a:ext cx="12984480" cy="115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51560" y="3595329"/>
            <a:ext cx="396210" cy="396210"/>
          </a:xfrm>
          <a:prstGeom prst="roundRect">
            <a:avLst>
              <a:gd name="adj" fmla="val 409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83508" y="3595329"/>
            <a:ext cx="246278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80" dirty="0"/>
          </a:p>
        </p:txBody>
      </p:sp>
      <p:sp>
        <p:nvSpPr>
          <p:cNvPr id="26" name="Text 22"/>
          <p:cNvSpPr/>
          <p:nvPr/>
        </p:nvSpPr>
        <p:spPr>
          <a:xfrm>
            <a:off x="1813530" y="3498494"/>
            <a:ext cx="860450" cy="312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Milvus</a:t>
            </a:r>
            <a:endParaRPr lang="en-US" sz="2040" dirty="0"/>
          </a:p>
        </p:txBody>
      </p:sp>
      <p:sp>
        <p:nvSpPr>
          <p:cNvPr id="27" name="Text 23"/>
          <p:cNvSpPr/>
          <p:nvPr/>
        </p:nvSpPr>
        <p:spPr>
          <a:xfrm>
            <a:off x="1813530" y="3813962"/>
            <a:ext cx="11073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向量数据库</a:t>
            </a:r>
            <a:endParaRPr lang="en-US" sz="1584" dirty="0"/>
          </a:p>
        </p:txBody>
      </p:sp>
      <p:sp>
        <p:nvSpPr>
          <p:cNvPr id="28" name="Shape 24"/>
          <p:cNvSpPr/>
          <p:nvPr/>
        </p:nvSpPr>
        <p:spPr>
          <a:xfrm>
            <a:off x="7482261" y="3740079"/>
            <a:ext cx="4603090" cy="10671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482261" y="3740079"/>
            <a:ext cx="4603090" cy="106710"/>
          </a:xfrm>
          <a:prstGeom prst="rect">
            <a:avLst/>
          </a:prstGeom>
          <a:solidFill>
            <a:srgbClr val="74E9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3029225" y="3580059"/>
            <a:ext cx="324307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640" b="1" spc="-33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640" dirty="0"/>
          </a:p>
        </p:txBody>
      </p:sp>
      <p:sp>
        <p:nvSpPr>
          <p:cNvPr id="31" name="Text 27"/>
          <p:cNvSpPr/>
          <p:nvPr/>
        </p:nvSpPr>
        <p:spPr>
          <a:xfrm>
            <a:off x="13293547" y="3724900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spc="-33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440" dirty="0"/>
          </a:p>
        </p:txBody>
      </p:sp>
      <p:sp>
        <p:nvSpPr>
          <p:cNvPr id="32" name="Shape 28"/>
          <p:cNvSpPr/>
          <p:nvPr/>
        </p:nvSpPr>
        <p:spPr>
          <a:xfrm>
            <a:off x="822960" y="4317248"/>
            <a:ext cx="12984480" cy="887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2960" y="5193263"/>
            <a:ext cx="12984480" cy="115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51560" y="4559016"/>
            <a:ext cx="396210" cy="396210"/>
          </a:xfrm>
          <a:prstGeom prst="roundRect">
            <a:avLst>
              <a:gd name="adj" fmla="val 409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183508" y="4559016"/>
            <a:ext cx="246278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80" dirty="0"/>
          </a:p>
        </p:txBody>
      </p:sp>
      <p:sp>
        <p:nvSpPr>
          <p:cNvPr id="36" name="Text 32"/>
          <p:cNvSpPr/>
          <p:nvPr/>
        </p:nvSpPr>
        <p:spPr>
          <a:xfrm>
            <a:off x="1813530" y="4462363"/>
            <a:ext cx="1691640" cy="312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BGE-large-zh</a:t>
            </a:r>
            <a:endParaRPr lang="en-US" sz="2040" dirty="0"/>
          </a:p>
        </p:txBody>
      </p:sp>
      <p:sp>
        <p:nvSpPr>
          <p:cNvPr id="37" name="Text 33"/>
          <p:cNvSpPr/>
          <p:nvPr/>
        </p:nvSpPr>
        <p:spPr>
          <a:xfrm>
            <a:off x="1813530" y="4777740"/>
            <a:ext cx="158986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Embedding模型</a:t>
            </a:r>
            <a:endParaRPr lang="en-US" sz="1584" dirty="0"/>
          </a:p>
        </p:txBody>
      </p:sp>
      <p:sp>
        <p:nvSpPr>
          <p:cNvPr id="38" name="Shape 34"/>
          <p:cNvSpPr/>
          <p:nvPr/>
        </p:nvSpPr>
        <p:spPr>
          <a:xfrm>
            <a:off x="7482261" y="4703765"/>
            <a:ext cx="4603090" cy="10671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482261" y="4703765"/>
            <a:ext cx="3682380" cy="106710"/>
          </a:xfrm>
          <a:prstGeom prst="rect">
            <a:avLst/>
          </a:prstGeom>
          <a:solidFill>
            <a:srgbClr val="74E9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029225" y="4543745"/>
            <a:ext cx="324307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640" b="1" spc="-33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40" dirty="0"/>
          </a:p>
        </p:txBody>
      </p:sp>
      <p:sp>
        <p:nvSpPr>
          <p:cNvPr id="41" name="Text 37"/>
          <p:cNvSpPr/>
          <p:nvPr/>
        </p:nvSpPr>
        <p:spPr>
          <a:xfrm>
            <a:off x="13293547" y="4688586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spc="-33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440" dirty="0"/>
          </a:p>
        </p:txBody>
      </p:sp>
      <p:sp>
        <p:nvSpPr>
          <p:cNvPr id="42" name="Shape 38"/>
          <p:cNvSpPr/>
          <p:nvPr/>
        </p:nvSpPr>
        <p:spPr>
          <a:xfrm>
            <a:off x="822960" y="5281026"/>
            <a:ext cx="12984480" cy="88751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22960" y="6156949"/>
            <a:ext cx="12984480" cy="115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051560" y="5522793"/>
            <a:ext cx="396210" cy="396210"/>
          </a:xfrm>
          <a:prstGeom prst="roundRect">
            <a:avLst>
              <a:gd name="adj" fmla="val 409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183508" y="5522793"/>
            <a:ext cx="246278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680" dirty="0"/>
          </a:p>
        </p:txBody>
      </p:sp>
      <p:sp>
        <p:nvSpPr>
          <p:cNvPr id="46" name="Text 42"/>
          <p:cNvSpPr/>
          <p:nvPr/>
        </p:nvSpPr>
        <p:spPr>
          <a:xfrm>
            <a:off x="1813530" y="5426050"/>
            <a:ext cx="1811244" cy="312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BGE-Reranker</a:t>
            </a:r>
            <a:endParaRPr lang="en-US" sz="2040" dirty="0"/>
          </a:p>
        </p:txBody>
      </p:sp>
      <p:sp>
        <p:nvSpPr>
          <p:cNvPr id="47" name="Text 43"/>
          <p:cNvSpPr/>
          <p:nvPr/>
        </p:nvSpPr>
        <p:spPr>
          <a:xfrm>
            <a:off x="1813530" y="5741426"/>
            <a:ext cx="11073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重排序模型</a:t>
            </a:r>
            <a:endParaRPr lang="en-US" sz="1584" dirty="0"/>
          </a:p>
        </p:txBody>
      </p:sp>
      <p:sp>
        <p:nvSpPr>
          <p:cNvPr id="48" name="Shape 44"/>
          <p:cNvSpPr/>
          <p:nvPr/>
        </p:nvSpPr>
        <p:spPr>
          <a:xfrm>
            <a:off x="7482261" y="5667634"/>
            <a:ext cx="4603090" cy="10671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482261" y="5667634"/>
            <a:ext cx="3682380" cy="106710"/>
          </a:xfrm>
          <a:prstGeom prst="rect">
            <a:avLst/>
          </a:prstGeom>
          <a:solidFill>
            <a:srgbClr val="74E9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3029225" y="5507614"/>
            <a:ext cx="324307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640" b="1" spc="-33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40" dirty="0"/>
          </a:p>
        </p:txBody>
      </p:sp>
      <p:sp>
        <p:nvSpPr>
          <p:cNvPr id="51" name="Text 47"/>
          <p:cNvSpPr/>
          <p:nvPr/>
        </p:nvSpPr>
        <p:spPr>
          <a:xfrm>
            <a:off x="13293547" y="5652364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spc="-33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440" dirty="0"/>
          </a:p>
        </p:txBody>
      </p:sp>
      <p:sp>
        <p:nvSpPr>
          <p:cNvPr id="52" name="Shape 48"/>
          <p:cNvSpPr/>
          <p:nvPr/>
        </p:nvSpPr>
        <p:spPr>
          <a:xfrm>
            <a:off x="822960" y="6244712"/>
            <a:ext cx="12984480" cy="88751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22960" y="7120636"/>
            <a:ext cx="12984480" cy="1159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051560" y="6486571"/>
            <a:ext cx="396210" cy="396210"/>
          </a:xfrm>
          <a:prstGeom prst="roundRect">
            <a:avLst>
              <a:gd name="adj" fmla="val 4096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183508" y="6486571"/>
            <a:ext cx="246278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>
                    <a:alpha val="58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80" dirty="0"/>
          </a:p>
        </p:txBody>
      </p:sp>
      <p:sp>
        <p:nvSpPr>
          <p:cNvPr id="56" name="Text 52"/>
          <p:cNvSpPr/>
          <p:nvPr/>
        </p:nvSpPr>
        <p:spPr>
          <a:xfrm>
            <a:off x="1813530" y="6389736"/>
            <a:ext cx="983437" cy="3123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FastAPI</a:t>
            </a:r>
            <a:endParaRPr lang="en-US" sz="2040" dirty="0"/>
          </a:p>
        </p:txBody>
      </p:sp>
      <p:sp>
        <p:nvSpPr>
          <p:cNvPr id="57" name="Text 53"/>
          <p:cNvSpPr/>
          <p:nvPr/>
        </p:nvSpPr>
        <p:spPr>
          <a:xfrm>
            <a:off x="1813530" y="6705112"/>
            <a:ext cx="9062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后端框架</a:t>
            </a:r>
            <a:endParaRPr lang="en-US" sz="1584" dirty="0"/>
          </a:p>
        </p:txBody>
      </p:sp>
      <p:sp>
        <p:nvSpPr>
          <p:cNvPr id="58" name="Shape 54"/>
          <p:cNvSpPr/>
          <p:nvPr/>
        </p:nvSpPr>
        <p:spPr>
          <a:xfrm>
            <a:off x="7482261" y="6631320"/>
            <a:ext cx="4603090" cy="10671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482261" y="6631320"/>
            <a:ext cx="3682380" cy="106710"/>
          </a:xfrm>
          <a:prstGeom prst="rect">
            <a:avLst/>
          </a:prstGeom>
          <a:solidFill>
            <a:srgbClr val="74E9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13029225" y="6471300"/>
            <a:ext cx="324307" cy="454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640" b="1" spc="-33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640" dirty="0"/>
          </a:p>
        </p:txBody>
      </p:sp>
      <p:sp>
        <p:nvSpPr>
          <p:cNvPr id="61" name="Text 57"/>
          <p:cNvSpPr/>
          <p:nvPr/>
        </p:nvSpPr>
        <p:spPr>
          <a:xfrm>
            <a:off x="13293547" y="6616050"/>
            <a:ext cx="28529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440" b="1" spc="-33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440" dirty="0"/>
          </a:p>
        </p:txBody>
      </p:sp>
      <p:sp>
        <p:nvSpPr>
          <p:cNvPr id="62" name="Text 58"/>
          <p:cNvSpPr/>
          <p:nvPr/>
        </p:nvSpPr>
        <p:spPr>
          <a:xfrm>
            <a:off x="822960" y="7284750"/>
            <a:ext cx="130210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注：部分公司全年有多轮融资，此处仅列其最大单笔。</a:t>
            </a:r>
            <a:endParaRPr lang="en-US" sz="158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思考问题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1040221"/>
            <a:ext cx="2716774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幻觉解决方案</a:t>
            </a:r>
            <a:endParaRPr lang="en-US" sz="3480" dirty="0"/>
          </a:p>
        </p:txBody>
      </p:sp>
      <p:sp>
        <p:nvSpPr>
          <p:cNvPr id="9" name="Text 6"/>
          <p:cNvSpPr/>
          <p:nvPr/>
        </p:nvSpPr>
        <p:spPr>
          <a:xfrm>
            <a:off x="3448294" y="1040221"/>
            <a:ext cx="2279233" cy="667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758"/>
              </a:lnSpc>
              <a:buNone/>
            </a:pPr>
            <a:r>
              <a:rPr lang="en-US" sz="3480" b="1" spc="-43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全链路防护</a:t>
            </a:r>
            <a:endParaRPr lang="en-US" sz="3480" dirty="0"/>
          </a:p>
        </p:txBody>
      </p:sp>
      <p:sp>
        <p:nvSpPr>
          <p:cNvPr id="10" name="Text 7"/>
          <p:cNvSpPr/>
          <p:nvPr/>
        </p:nvSpPr>
        <p:spPr>
          <a:xfrm rot="-5400000">
            <a:off x="838230" y="4218767"/>
            <a:ext cx="1050234" cy="86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5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实施难度</a:t>
            </a:r>
            <a:endParaRPr lang="en-US" sz="1584" dirty="0"/>
          </a:p>
        </p:txBody>
      </p:sp>
      <p:sp>
        <p:nvSpPr>
          <p:cNvPr id="11" name="Text 8"/>
          <p:cNvSpPr/>
          <p:nvPr/>
        </p:nvSpPr>
        <p:spPr>
          <a:xfrm rot="-5400000">
            <a:off x="838230" y="3943624"/>
            <a:ext cx="365760" cy="302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5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↑</a:t>
            </a:r>
            <a:endParaRPr lang="en-US" sz="1584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316"/>
            <a:ext cx="9183411" cy="5981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46890" y="2102525"/>
            <a:ext cx="1311432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A8F6C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Prompt层</a:t>
            </a:r>
            <a:endParaRPr lang="en-US" sz="2040" dirty="0"/>
          </a:p>
        </p:txBody>
      </p:sp>
      <p:sp>
        <p:nvSpPr>
          <p:cNvPr id="14" name="Text 10"/>
          <p:cNvSpPr/>
          <p:nvPr/>
        </p:nvSpPr>
        <p:spPr>
          <a:xfrm>
            <a:off x="6955658" y="2191725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AFFF4">
                    <a:alpha val="56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84" dirty="0"/>
          </a:p>
        </p:txBody>
      </p:sp>
      <p:sp>
        <p:nvSpPr>
          <p:cNvPr id="15" name="Text 11"/>
          <p:cNvSpPr/>
          <p:nvPr/>
        </p:nvSpPr>
        <p:spPr>
          <a:xfrm>
            <a:off x="1546890" y="2580345"/>
            <a:ext cx="5760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AFFF4">
                    <a:alpha val="82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约束指令+引用来源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1676370" y="3309488"/>
            <a:ext cx="197583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仅基于参考资料回答</a:t>
            </a:r>
            <a:endParaRPr lang="en-US" sz="1584" dirty="0"/>
          </a:p>
        </p:txBody>
      </p:sp>
      <p:sp>
        <p:nvSpPr>
          <p:cNvPr id="17" name="Text 13"/>
          <p:cNvSpPr/>
          <p:nvPr/>
        </p:nvSpPr>
        <p:spPr>
          <a:xfrm>
            <a:off x="3723437" y="3309488"/>
            <a:ext cx="176671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没有答案说不知道</a:t>
            </a:r>
            <a:endParaRPr lang="en-US" sz="1584" dirty="0"/>
          </a:p>
        </p:txBody>
      </p:sp>
      <p:sp>
        <p:nvSpPr>
          <p:cNvPr id="18" name="Text 14"/>
          <p:cNvSpPr/>
          <p:nvPr/>
        </p:nvSpPr>
        <p:spPr>
          <a:xfrm>
            <a:off x="1676370" y="3781867"/>
            <a:ext cx="1766712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标注来源段落编号</a:t>
            </a:r>
            <a:endParaRPr lang="en-US" sz="1584" dirty="0"/>
          </a:p>
        </p:txBody>
      </p:sp>
      <p:sp>
        <p:nvSpPr>
          <p:cNvPr id="19" name="Text 15"/>
          <p:cNvSpPr/>
          <p:nvPr/>
        </p:nvSpPr>
        <p:spPr>
          <a:xfrm>
            <a:off x="3533333" y="3781867"/>
            <a:ext cx="197583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A8F6C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关键信息加引用标记</a:t>
            </a:r>
            <a:endParaRPr lang="en-US" sz="1584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174486" y="403342"/>
            <a:ext cx="8455914" cy="54717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886700" y="2102525"/>
            <a:ext cx="86868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检索层</a:t>
            </a:r>
            <a:endParaRPr lang="en-US" sz="2040" dirty="0"/>
          </a:p>
        </p:txBody>
      </p:sp>
      <p:sp>
        <p:nvSpPr>
          <p:cNvPr id="22" name="Text 17"/>
          <p:cNvSpPr/>
          <p:nvPr/>
        </p:nvSpPr>
        <p:spPr>
          <a:xfrm>
            <a:off x="13295467" y="2191725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23" name="Text 18"/>
          <p:cNvSpPr/>
          <p:nvPr/>
        </p:nvSpPr>
        <p:spPr>
          <a:xfrm>
            <a:off x="7886700" y="2580345"/>
            <a:ext cx="5760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提升召回+设阈值</a:t>
            </a:r>
            <a:endParaRPr lang="en-US" sz="1440" dirty="0"/>
          </a:p>
        </p:txBody>
      </p:sp>
      <p:sp>
        <p:nvSpPr>
          <p:cNvPr id="24" name="Text 19"/>
          <p:cNvSpPr/>
          <p:nvPr/>
        </p:nvSpPr>
        <p:spPr>
          <a:xfrm>
            <a:off x="8016270" y="3781867"/>
            <a:ext cx="1893357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混合检索+多路召回</a:t>
            </a:r>
            <a:endParaRPr lang="en-US" sz="1584" dirty="0"/>
          </a:p>
        </p:txBody>
      </p:sp>
      <p:sp>
        <p:nvSpPr>
          <p:cNvPr id="25" name="Text 20"/>
          <p:cNvSpPr/>
          <p:nvPr/>
        </p:nvSpPr>
        <p:spPr>
          <a:xfrm>
            <a:off x="9992289" y="3781867"/>
            <a:ext cx="1557589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相似度阈值兜底</a:t>
            </a:r>
            <a:endParaRPr lang="en-US" sz="1584" dirty="0"/>
          </a:p>
        </p:txBody>
      </p:sp>
      <p:sp>
        <p:nvSpPr>
          <p:cNvPr id="26" name="Text 21"/>
          <p:cNvSpPr/>
          <p:nvPr/>
        </p:nvSpPr>
        <p:spPr>
          <a:xfrm>
            <a:off x="11659057" y="3781867"/>
            <a:ext cx="197583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确保相关内容被检索</a:t>
            </a:r>
            <a:endParaRPr lang="en-US" sz="1584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3121304"/>
            <a:ext cx="8928293" cy="51082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46890" y="4820488"/>
            <a:ext cx="86868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生成层</a:t>
            </a:r>
            <a:endParaRPr lang="en-US" sz="2040" dirty="0"/>
          </a:p>
        </p:txBody>
      </p:sp>
      <p:sp>
        <p:nvSpPr>
          <p:cNvPr id="29" name="Text 23"/>
          <p:cNvSpPr/>
          <p:nvPr/>
        </p:nvSpPr>
        <p:spPr>
          <a:xfrm>
            <a:off x="6955658" y="4909688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30" name="Text 24"/>
          <p:cNvSpPr/>
          <p:nvPr/>
        </p:nvSpPr>
        <p:spPr>
          <a:xfrm>
            <a:off x="1546890" y="5298308"/>
            <a:ext cx="5760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后处理校验</a:t>
            </a:r>
            <a:endParaRPr lang="en-US" sz="1440" dirty="0"/>
          </a:p>
        </p:txBody>
      </p:sp>
      <p:sp>
        <p:nvSpPr>
          <p:cNvPr id="31" name="Text 25"/>
          <p:cNvSpPr/>
          <p:nvPr/>
        </p:nvSpPr>
        <p:spPr>
          <a:xfrm>
            <a:off x="1676370" y="6027450"/>
            <a:ext cx="2200961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用另一个LLM校验答案</a:t>
            </a:r>
            <a:endParaRPr lang="en-US" sz="1584" dirty="0"/>
          </a:p>
        </p:txBody>
      </p:sp>
      <p:sp>
        <p:nvSpPr>
          <p:cNvPr id="32" name="Text 26"/>
          <p:cNvSpPr/>
          <p:nvPr/>
        </p:nvSpPr>
        <p:spPr>
          <a:xfrm>
            <a:off x="3890955" y="6027450"/>
            <a:ext cx="197583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规则引擎检查一致性</a:t>
            </a:r>
            <a:endParaRPr lang="en-US" sz="1584" dirty="0"/>
          </a:p>
        </p:txBody>
      </p:sp>
      <p:sp>
        <p:nvSpPr>
          <p:cNvPr id="33" name="Text 27"/>
          <p:cNvSpPr/>
          <p:nvPr/>
        </p:nvSpPr>
        <p:spPr>
          <a:xfrm>
            <a:off x="1676370" y="6499830"/>
            <a:ext cx="1557589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自动标注置信度</a:t>
            </a:r>
            <a:endParaRPr lang="en-US" sz="1584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174486" y="3121304"/>
            <a:ext cx="8455914" cy="51082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86700" y="4820488"/>
            <a:ext cx="868680" cy="4007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系统层</a:t>
            </a:r>
            <a:endParaRPr lang="en-US" sz="2040" dirty="0"/>
          </a:p>
        </p:txBody>
      </p:sp>
      <p:sp>
        <p:nvSpPr>
          <p:cNvPr id="36" name="Text 29"/>
          <p:cNvSpPr/>
          <p:nvPr/>
        </p:nvSpPr>
        <p:spPr>
          <a:xfrm>
            <a:off x="13295467" y="4909688"/>
            <a:ext cx="4072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584" dirty="0"/>
          </a:p>
        </p:txBody>
      </p:sp>
      <p:sp>
        <p:nvSpPr>
          <p:cNvPr id="37" name="Text 30"/>
          <p:cNvSpPr/>
          <p:nvPr/>
        </p:nvSpPr>
        <p:spPr>
          <a:xfrm>
            <a:off x="7886700" y="5298308"/>
            <a:ext cx="576072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兜底策略</a:t>
            </a:r>
            <a:endParaRPr lang="en-US" sz="1440" dirty="0"/>
          </a:p>
        </p:txBody>
      </p:sp>
      <p:sp>
        <p:nvSpPr>
          <p:cNvPr id="38" name="Text 31"/>
          <p:cNvSpPr/>
          <p:nvPr/>
        </p:nvSpPr>
        <p:spPr>
          <a:xfrm>
            <a:off x="8016270" y="6499830"/>
            <a:ext cx="1557589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检索为空转人工</a:t>
            </a:r>
            <a:endParaRPr lang="en-US" sz="1584" dirty="0"/>
          </a:p>
        </p:txBody>
      </p:sp>
      <p:sp>
        <p:nvSpPr>
          <p:cNvPr id="39" name="Text 32"/>
          <p:cNvSpPr/>
          <p:nvPr/>
        </p:nvSpPr>
        <p:spPr>
          <a:xfrm>
            <a:off x="9683039" y="6499830"/>
            <a:ext cx="1348466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标准话术兜底</a:t>
            </a:r>
            <a:endParaRPr lang="en-US" sz="1584" dirty="0"/>
          </a:p>
        </p:txBody>
      </p:sp>
      <p:sp>
        <p:nvSpPr>
          <p:cNvPr id="40" name="Shape 33"/>
          <p:cNvSpPr/>
          <p:nvPr/>
        </p:nvSpPr>
        <p:spPr>
          <a:xfrm>
            <a:off x="1295430" y="4490527"/>
            <a:ext cx="12512010" cy="15270"/>
          </a:xfrm>
          <a:prstGeom prst="rect">
            <a:avLst/>
          </a:prstGeom>
          <a:solidFill>
            <a:srgbClr val="2FE07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5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543800" y="1864004"/>
            <a:ext cx="15270" cy="5268316"/>
          </a:xfrm>
          <a:prstGeom prst="rect">
            <a:avLst/>
          </a:prstGeom>
          <a:solidFill>
            <a:srgbClr val="2FE07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50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1295430" y="7269480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前端</a:t>
            </a:r>
            <a:endParaRPr lang="en-US" sz="1584" dirty="0"/>
          </a:p>
        </p:txBody>
      </p:sp>
      <p:sp>
        <p:nvSpPr>
          <p:cNvPr id="43" name="Text 36"/>
          <p:cNvSpPr/>
          <p:nvPr/>
        </p:nvSpPr>
        <p:spPr>
          <a:xfrm>
            <a:off x="6961327" y="7269480"/>
            <a:ext cx="105023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5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防护层级</a:t>
            </a:r>
            <a:endParaRPr lang="en-US" sz="1584" dirty="0"/>
          </a:p>
        </p:txBody>
      </p:sp>
      <p:sp>
        <p:nvSpPr>
          <p:cNvPr id="44" name="Text 37"/>
          <p:cNvSpPr/>
          <p:nvPr/>
        </p:nvSpPr>
        <p:spPr>
          <a:xfrm>
            <a:off x="7795351" y="7269480"/>
            <a:ext cx="4375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25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</a:t>
            </a:r>
            <a:endParaRPr lang="en-US" sz="1584" dirty="0"/>
          </a:p>
        </p:txBody>
      </p:sp>
      <p:sp>
        <p:nvSpPr>
          <p:cNvPr id="45" name="Text 38"/>
          <p:cNvSpPr/>
          <p:nvPr/>
        </p:nvSpPr>
        <p:spPr>
          <a:xfrm>
            <a:off x="13427050" y="7269480"/>
            <a:ext cx="51197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后端</a:t>
            </a:r>
            <a:endParaRPr lang="en-US" sz="158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11185"/>
            <a:ext cx="4596384" cy="4500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0"/>
              </a:lnSpc>
              <a:buNone/>
            </a:pPr>
            <a:r>
              <a:rPr lang="en-US" sz="27600" b="1" spc="-200" kern="0" dirty="0">
                <a:solidFill>
                  <a:srgbClr val="2FE07F">
                    <a:alpha val="2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600" dirty="0"/>
          </a:p>
        </p:txBody>
      </p:sp>
      <p:sp>
        <p:nvSpPr>
          <p:cNvPr id="6" name="Shape 3"/>
          <p:cNvSpPr/>
          <p:nvPr/>
        </p:nvSpPr>
        <p:spPr>
          <a:xfrm>
            <a:off x="5498653" y="1971812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98653" y="1971812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思考问题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5498653" y="2384344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检索优化</a:t>
            </a:r>
            <a:endParaRPr lang="en-US" sz="4920" dirty="0"/>
          </a:p>
        </p:txBody>
      </p:sp>
      <p:sp>
        <p:nvSpPr>
          <p:cNvPr id="9" name="Text 6"/>
          <p:cNvSpPr/>
          <p:nvPr/>
        </p:nvSpPr>
        <p:spPr>
          <a:xfrm>
            <a:off x="5498653" y="3084043"/>
            <a:ext cx="3803081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三层优化框架</a:t>
            </a:r>
            <a:endParaRPr lang="en-US" sz="4920" dirty="0"/>
          </a:p>
        </p:txBody>
      </p:sp>
      <p:sp>
        <p:nvSpPr>
          <p:cNvPr id="10" name="Shape 7"/>
          <p:cNvSpPr/>
          <p:nvPr/>
        </p:nvSpPr>
        <p:spPr>
          <a:xfrm>
            <a:off x="5498653" y="4102730"/>
            <a:ext cx="914400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98653" y="4363919"/>
            <a:ext cx="6842455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RAG检索效果不理想时，从数据层、检索层、查询层系统性优化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5498653" y="5030846"/>
            <a:ext cx="38322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84" dirty="0"/>
          </a:p>
        </p:txBody>
      </p:sp>
      <p:sp>
        <p:nvSpPr>
          <p:cNvPr id="13" name="Text 10"/>
          <p:cNvSpPr/>
          <p:nvPr/>
        </p:nvSpPr>
        <p:spPr>
          <a:xfrm>
            <a:off x="5859109" y="4994910"/>
            <a:ext cx="3405408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数据层：分块+清洗+Metadata</a:t>
            </a:r>
            <a:endParaRPr lang="en-US" sz="1920" dirty="0"/>
          </a:p>
        </p:txBody>
      </p:sp>
      <p:sp>
        <p:nvSpPr>
          <p:cNvPr id="14" name="Text 11"/>
          <p:cNvSpPr/>
          <p:nvPr/>
        </p:nvSpPr>
        <p:spPr>
          <a:xfrm>
            <a:off x="5498653" y="5488046"/>
            <a:ext cx="38322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84" dirty="0"/>
          </a:p>
        </p:txBody>
      </p:sp>
      <p:sp>
        <p:nvSpPr>
          <p:cNvPr id="15" name="Text 12"/>
          <p:cNvSpPr/>
          <p:nvPr/>
        </p:nvSpPr>
        <p:spPr>
          <a:xfrm>
            <a:off x="5859109" y="5452110"/>
            <a:ext cx="323085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检索层：混合检索+Reranker</a:t>
            </a:r>
            <a:endParaRPr lang="en-US" sz="1920" dirty="0"/>
          </a:p>
        </p:txBody>
      </p:sp>
      <p:sp>
        <p:nvSpPr>
          <p:cNvPr id="16" name="Text 13"/>
          <p:cNvSpPr/>
          <p:nvPr/>
        </p:nvSpPr>
        <p:spPr>
          <a:xfrm>
            <a:off x="5498653" y="5945246"/>
            <a:ext cx="38322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84" dirty="0"/>
          </a:p>
        </p:txBody>
      </p:sp>
      <p:sp>
        <p:nvSpPr>
          <p:cNvPr id="17" name="Text 14"/>
          <p:cNvSpPr/>
          <p:nvPr/>
        </p:nvSpPr>
        <p:spPr>
          <a:xfrm>
            <a:off x="5859109" y="5909310"/>
            <a:ext cx="3033431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查询层：Query改写+HyDE</a:t>
            </a:r>
            <a:endParaRPr lang="en-US" sz="1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效果评估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289587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2139330"/>
            <a:ext cx="1670304" cy="3136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128"/>
              </a:lnSpc>
              <a:buNone/>
            </a:pPr>
            <a:r>
              <a:rPr lang="en-US" sz="19200" b="1" spc="-200" kern="0" dirty="0">
                <a:solidFill>
                  <a:srgbClr val="5DC8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9200" dirty="0"/>
          </a:p>
        </p:txBody>
      </p:sp>
      <p:sp>
        <p:nvSpPr>
          <p:cNvPr id="9" name="Text 6"/>
          <p:cNvSpPr/>
          <p:nvPr/>
        </p:nvSpPr>
        <p:spPr>
          <a:xfrm>
            <a:off x="2359243" y="3653119"/>
            <a:ext cx="223726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48"/>
              </a:lnSpc>
              <a:buNone/>
            </a:pPr>
            <a:r>
              <a:rPr lang="en-US" sz="4224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4224" dirty="0"/>
          </a:p>
        </p:txBody>
      </p:sp>
      <p:sp>
        <p:nvSpPr>
          <p:cNvPr id="10" name="Text 7"/>
          <p:cNvSpPr/>
          <p:nvPr/>
        </p:nvSpPr>
        <p:spPr>
          <a:xfrm>
            <a:off x="822960" y="4517630"/>
            <a:ext cx="7559070" cy="368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RAGAS评估框架量化RAG效果</a:t>
            </a:r>
            <a:endParaRPr lang="en-US" sz="1920" dirty="0"/>
          </a:p>
        </p:txBody>
      </p:sp>
      <p:sp>
        <p:nvSpPr>
          <p:cNvPr id="11" name="Shape 8"/>
          <p:cNvSpPr/>
          <p:nvPr/>
        </p:nvSpPr>
        <p:spPr>
          <a:xfrm>
            <a:off x="9745950" y="3407603"/>
            <a:ext cx="4061490" cy="34134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45950" y="3407603"/>
            <a:ext cx="23186" cy="341346"/>
          </a:xfrm>
          <a:prstGeom prst="rect">
            <a:avLst/>
          </a:prstGeom>
          <a:solidFill>
            <a:srgbClr val="2FE07F">
              <a:alpha val="40000"/>
            </a:srgbClr>
          </a:solidFill>
          <a:ln w="12700">
            <a:solidFill>
              <a:srgbClr val="2FE07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20270" y="3409651"/>
            <a:ext cx="3878610" cy="368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88"/>
              </a:lnSpc>
              <a:buNone/>
            </a:pPr>
            <a:r>
              <a:rPr lang="en-US" sz="168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不能凭感觉，要用数据说话</a:t>
            </a:r>
            <a:endParaRPr lang="en-US" sz="1680" dirty="0"/>
          </a:p>
        </p:txBody>
      </p:sp>
      <p:sp>
        <p:nvSpPr>
          <p:cNvPr id="14" name="Shape 11"/>
          <p:cNvSpPr/>
          <p:nvPr/>
        </p:nvSpPr>
        <p:spPr>
          <a:xfrm>
            <a:off x="82296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16" name="Text 12"/>
          <p:cNvSpPr/>
          <p:nvPr/>
        </p:nvSpPr>
        <p:spPr>
          <a:xfrm>
            <a:off x="1059150" y="5342243"/>
            <a:ext cx="1494739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Faith</a:t>
            </a:r>
            <a:endParaRPr lang="en-US" sz="3840" dirty="0"/>
          </a:p>
        </p:txBody>
      </p:sp>
      <p:sp>
        <p:nvSpPr>
          <p:cNvPr id="17" name="Text 13"/>
          <p:cNvSpPr/>
          <p:nvPr/>
        </p:nvSpPr>
        <p:spPr>
          <a:xfrm>
            <a:off x="2244761" y="5603718"/>
            <a:ext cx="67153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忠实度</a:t>
            </a:r>
            <a:endParaRPr lang="en-US" sz="1536" dirty="0"/>
          </a:p>
        </p:txBody>
      </p:sp>
      <p:sp>
        <p:nvSpPr>
          <p:cNvPr id="18" name="Text 14"/>
          <p:cNvSpPr/>
          <p:nvPr/>
        </p:nvSpPr>
        <p:spPr>
          <a:xfrm>
            <a:off x="1059150" y="5922203"/>
            <a:ext cx="209849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回答是否忠于检索内容</a:t>
            </a:r>
            <a:endParaRPr lang="en-US" sz="1518" dirty="0"/>
          </a:p>
        </p:txBody>
      </p:sp>
      <p:sp>
        <p:nvSpPr>
          <p:cNvPr id="19" name="Shape 15"/>
          <p:cNvSpPr/>
          <p:nvPr/>
        </p:nvSpPr>
        <p:spPr>
          <a:xfrm>
            <a:off x="521208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1" name="Text 16"/>
          <p:cNvSpPr/>
          <p:nvPr/>
        </p:nvSpPr>
        <p:spPr>
          <a:xfrm>
            <a:off x="5448270" y="5342243"/>
            <a:ext cx="958291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</a:t>
            </a:r>
            <a:endParaRPr lang="en-US" sz="3840" dirty="0"/>
          </a:p>
        </p:txBody>
      </p:sp>
      <p:sp>
        <p:nvSpPr>
          <p:cNvPr id="22" name="Text 17"/>
          <p:cNvSpPr/>
          <p:nvPr/>
        </p:nvSpPr>
        <p:spPr>
          <a:xfrm>
            <a:off x="6183630" y="5603718"/>
            <a:ext cx="67153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相关性</a:t>
            </a:r>
            <a:endParaRPr lang="en-US" sz="1536" dirty="0"/>
          </a:p>
        </p:txBody>
      </p:sp>
      <p:sp>
        <p:nvSpPr>
          <p:cNvPr id="23" name="Text 18"/>
          <p:cNvSpPr/>
          <p:nvPr/>
        </p:nvSpPr>
        <p:spPr>
          <a:xfrm>
            <a:off x="5448270" y="5922203"/>
            <a:ext cx="129685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回答是否切题</a:t>
            </a:r>
            <a:endParaRPr lang="en-US" sz="1518" dirty="0"/>
          </a:p>
        </p:txBody>
      </p:sp>
      <p:sp>
        <p:nvSpPr>
          <p:cNvPr id="24" name="Shape 19"/>
          <p:cNvSpPr/>
          <p:nvPr/>
        </p:nvSpPr>
        <p:spPr>
          <a:xfrm>
            <a:off x="9601200" y="5192238"/>
            <a:ext cx="4206240" cy="1194755"/>
          </a:xfrm>
          <a:prstGeom prst="roundRect">
            <a:avLst>
              <a:gd name="adj" fmla="val 23288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192238"/>
            <a:ext cx="4206240" cy="1194755"/>
          </a:xfrm>
          <a:prstGeom prst="rect">
            <a:avLst/>
          </a:prstGeom>
          <a:effectLst>
            <a:outerShdw sx="100000" sy="100000" kx="0" ky="0" algn="bl" rotWithShape="0" blurRad="76200" dist="12700" dir="5400000">
              <a:srgbClr val="FFFFFF">
                <a:alpha val="6000"/>
              </a:srgbClr>
            </a:outerShdw>
          </a:effectLst>
        </p:spPr>
      </p:pic>
      <p:sp>
        <p:nvSpPr>
          <p:cNvPr id="26" name="Text 20"/>
          <p:cNvSpPr/>
          <p:nvPr/>
        </p:nvSpPr>
        <p:spPr>
          <a:xfrm>
            <a:off x="9837390" y="5342243"/>
            <a:ext cx="1226515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48"/>
              </a:lnSpc>
              <a:buNone/>
            </a:pPr>
            <a:r>
              <a:rPr lang="en-US" sz="3840" b="1" spc="-96" kern="0" dirty="0">
                <a:solidFill>
                  <a:srgbClr val="EEF3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</a:t>
            </a:r>
            <a:endParaRPr lang="en-US" sz="3840" dirty="0"/>
          </a:p>
        </p:txBody>
      </p:sp>
      <p:sp>
        <p:nvSpPr>
          <p:cNvPr id="27" name="Text 21"/>
          <p:cNvSpPr/>
          <p:nvPr/>
        </p:nvSpPr>
        <p:spPr>
          <a:xfrm>
            <a:off x="10890778" y="5603718"/>
            <a:ext cx="67153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536" spc="-96" kern="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精确率</a:t>
            </a:r>
            <a:endParaRPr lang="en-US" sz="1536" dirty="0"/>
          </a:p>
        </p:txBody>
      </p:sp>
      <p:sp>
        <p:nvSpPr>
          <p:cNvPr id="28" name="Text 22"/>
          <p:cNvSpPr/>
          <p:nvPr/>
        </p:nvSpPr>
        <p:spPr>
          <a:xfrm>
            <a:off x="9837390" y="5922203"/>
            <a:ext cx="189808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69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检索内容有多少相关</a:t>
            </a:r>
            <a:endParaRPr lang="en-US" sz="151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717963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2717963"/>
            <a:ext cx="130512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总结回顾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716250" y="2961833"/>
            <a:ext cx="1157478" cy="1757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>
                <a:solidFill>
                  <a:srgbClr val="2FE07F">
                    <a:alpha val="1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7008144" y="3282925"/>
            <a:ext cx="4421581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先查资料再答题</a:t>
            </a:r>
            <a:endParaRPr lang="en-US" sz="4920" dirty="0"/>
          </a:p>
        </p:txBody>
      </p:sp>
      <p:sp>
        <p:nvSpPr>
          <p:cNvPr id="9" name="Text 6"/>
          <p:cNvSpPr/>
          <p:nvPr/>
        </p:nvSpPr>
        <p:spPr>
          <a:xfrm>
            <a:off x="822960" y="3282925"/>
            <a:ext cx="6276624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RAG的本质是开卷考试</a:t>
            </a:r>
            <a:endParaRPr lang="en-US" sz="4920" dirty="0"/>
          </a:p>
        </p:txBody>
      </p:sp>
      <p:sp>
        <p:nvSpPr>
          <p:cNvPr id="10" name="Text 7"/>
          <p:cNvSpPr/>
          <p:nvPr/>
        </p:nvSpPr>
        <p:spPr>
          <a:xfrm>
            <a:off x="11338286" y="3282925"/>
            <a:ext cx="710123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</a:t>
            </a:r>
            <a:endParaRPr lang="en-US" sz="4920" dirty="0"/>
          </a:p>
        </p:txBody>
      </p:sp>
      <p:sp>
        <p:nvSpPr>
          <p:cNvPr id="11" name="Text 8"/>
          <p:cNvSpPr/>
          <p:nvPr/>
        </p:nvSpPr>
        <p:spPr>
          <a:xfrm>
            <a:off x="822960" y="4070132"/>
            <a:ext cx="11031779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199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果上限由检索决定，下限由Prompt兜底</a:t>
            </a:r>
            <a:endParaRPr lang="en-US" sz="4920" dirty="0"/>
          </a:p>
        </p:txBody>
      </p:sp>
      <p:sp>
        <p:nvSpPr>
          <p:cNvPr id="12" name="Shape 9"/>
          <p:cNvSpPr/>
          <p:nvPr/>
        </p:nvSpPr>
        <p:spPr>
          <a:xfrm>
            <a:off x="822960" y="5363047"/>
            <a:ext cx="487650" cy="2286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463040" y="5237317"/>
            <a:ext cx="233487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EEF3F1">
                    <a:alpha val="58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RAG技术分享 · 2026</a:t>
            </a:r>
            <a:endParaRPr lang="en-US" sz="15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9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670530"/>
            <a:ext cx="259050" cy="15270"/>
          </a:xfrm>
          <a:prstGeom prst="ellipse">
            <a:avLst/>
          </a:prstGeom>
          <a:solidFill>
            <a:srgbClr val="2FE07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3350" dist="12700" dir="16200000">
              <a:srgbClr val="2FE07F">
                <a:alpha val="7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70530"/>
            <a:ext cx="1166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324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 &amp; A</a:t>
            </a:r>
            <a:endParaRPr lang="en-US" sz="1584" dirty="0"/>
          </a:p>
        </p:txBody>
      </p:sp>
      <p:sp>
        <p:nvSpPr>
          <p:cNvPr id="7" name="Text 4"/>
          <p:cNvSpPr/>
          <p:nvPr/>
        </p:nvSpPr>
        <p:spPr>
          <a:xfrm>
            <a:off x="10122225" y="670530"/>
            <a:ext cx="110413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80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73 / 73</a:t>
            </a:r>
            <a:endParaRPr lang="en-US" sz="1584" dirty="0"/>
          </a:p>
        </p:txBody>
      </p:sp>
      <p:sp>
        <p:nvSpPr>
          <p:cNvPr id="8" name="Text 5"/>
          <p:cNvSpPr/>
          <p:nvPr/>
        </p:nvSpPr>
        <p:spPr>
          <a:xfrm>
            <a:off x="822960" y="944004"/>
            <a:ext cx="612648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7200" dirty="0">
                <a:solidFill>
                  <a:srgbClr val="2FE07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1860393"/>
            <a:ext cx="2565898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欢迎提问</a:t>
            </a:r>
            <a:endParaRPr lang="en-US" sz="4920" dirty="0"/>
          </a:p>
        </p:txBody>
      </p:sp>
      <p:sp>
        <p:nvSpPr>
          <p:cNvPr id="10" name="Text 7"/>
          <p:cNvSpPr/>
          <p:nvPr/>
        </p:nvSpPr>
        <p:spPr>
          <a:xfrm>
            <a:off x="3297418" y="1884877"/>
            <a:ext cx="1687982" cy="934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510"/>
              </a:lnSpc>
              <a:buNone/>
            </a:pPr>
            <a:r>
              <a:rPr lang="en-US" sz="4920" b="1" spc="-61" kern="0" dirty="0">
                <a:solidFill>
                  <a:srgbClr val="5DC8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 &amp; A</a:t>
            </a:r>
            <a:endParaRPr lang="en-US" sz="4920" dirty="0"/>
          </a:p>
        </p:txBody>
      </p:sp>
      <p:sp>
        <p:nvSpPr>
          <p:cNvPr id="11" name="Shape 8"/>
          <p:cNvSpPr/>
          <p:nvPr/>
        </p:nvSpPr>
        <p:spPr>
          <a:xfrm>
            <a:off x="822960" y="2909529"/>
            <a:ext cx="1066830" cy="30450"/>
          </a:xfrm>
          <a:prstGeom prst="rect">
            <a:avLst/>
          </a:prstGeom>
          <a:solidFill>
            <a:srgbClr val="2FE07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12700" dir="16200000">
              <a:srgbClr val="2FE07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201314"/>
            <a:ext cx="564486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EEF3F1">
                    <a:alpha val="58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以上就是今天的全部内容，会后也欢迎随时找我交流</a:t>
            </a:r>
            <a:endParaRPr lang="en-US" sz="1920" dirty="0"/>
          </a:p>
        </p:txBody>
      </p:sp>
      <p:sp>
        <p:nvSpPr>
          <p:cNvPr id="13" name="Text 10"/>
          <p:cNvSpPr/>
          <p:nvPr/>
        </p:nvSpPr>
        <p:spPr>
          <a:xfrm>
            <a:off x="822960" y="3962918"/>
            <a:ext cx="137352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EF3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RAG技术分享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2272650" y="3999220"/>
            <a:ext cx="6727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72" kern="0" dirty="0">
                <a:solidFill>
                  <a:srgbClr val="2FE07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</a:t>
            </a:r>
            <a:endParaRPr lang="en-US" sz="1584" dirty="0"/>
          </a:p>
        </p:txBody>
      </p:sp>
      <p:sp>
        <p:nvSpPr>
          <p:cNvPr id="15" name="Shape 12"/>
          <p:cNvSpPr/>
          <p:nvPr/>
        </p:nvSpPr>
        <p:spPr>
          <a:xfrm>
            <a:off x="2917302" y="4014399"/>
            <a:ext cx="872703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EF3F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17302" y="4014399"/>
            <a:ext cx="11593" cy="2514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2501" y="4014399"/>
            <a:ext cx="861845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66" kern="0" dirty="0">
                <a:solidFill>
                  <a:srgbClr val="EEF3F1">
                    <a:alpha val="34000"/>
                  </a:srgbClr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谢谢大家</a:t>
            </a:r>
            <a:endParaRPr lang="en-US" sz="14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RAG技术分享</dc:title>
  <dc:subject>Editable PPTX export</dc:subject>
  <dc:creator>DashiAI PPT</dc:creator>
  <cp:lastModifiedBy>DashiAI PPT</cp:lastModifiedBy>
  <cp:revision>1</cp:revision>
  <dcterms:created xsi:type="dcterms:W3CDTF">2026-07-08T22:58:31Z</dcterms:created>
  <dcterms:modified xsi:type="dcterms:W3CDTF">2026-07-08T22:58:31Z</dcterms:modified>
</cp:coreProperties>
</file>